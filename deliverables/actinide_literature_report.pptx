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  <Relationship Id="rId1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大家好，今天汇报的文献围绕一个问题：怎样把溶液中的配位识别，转化为固体框架中的选择性分离？作者提出刚柔调控和硬软供体组合两种策略，构筑了DAPhen共价有机框架。右侧是双尺度设计的概念示意，并不代表真实配位结构。这篇论文于二〇二四年十二月在线发表，正式刊载于二〇二五年的Advanced Materials。下面我按设计、性能和机制三个层次展开。</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首先看为什么需要锕系与镧系分离。在分离—嬗变策略中，要回收长寿命超铀元素，同时尽可能去除具有中子吸收作用的镧系组分，这关系到核燃料循环和长期放射性负担。困难在于，特别是三价锕系和三价镧系，化学性质相近，很难仅凭一般的离子吸附把它们区分开。本文又不仅研究一种三价离子，而是同时考察五价镎、四价钚和三价镅。它们分别以镎酰离子、四价钚和三价镅的形式参与实验，配位几何并不相同。另外，硝酸会使氮位点质子化，与金属配位形成竞争。所以作者需要设计的，不只是有孔的材料，而是能在特定酸度下发挥配位辨识作用的材料。</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作者把设计分成两个相互配合的层次。第一个层次是框架怎样形成：刚性TFPT单体提供明确的拓扑方向，柔性酰腙链通过化学键旋转，适应有序组装需要的构象。刚性和柔性在这里不是互相排斥，而是分别承担定向和适配的功能。第二个层次是金属怎样被识别：邻菲罗啉氮是相对软的供体，羰基氧是硬供体，作者希望用氮氧组合兼顾不同锕系离子的结合。这里与课程中的硬软酸碱理论直接相关，但不能把它简单理解成只要有软氮就一定能分离锕系。最终选择性还依赖位点数目、孔道可接近性和配位几何。下一页的材料对照就体现了这一点。</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幅原文合成图展示了两种材料的共同基础和关键差异。共同点是，三连接的TFPT与含二酰肼的单体缩合，形成酰腙连接的框架。DAPhen使用邻菲罗啉单体D，Py使用吡啶单体P。两个单体的初始链夹角分别为六十度和一百二十度，均不是简单的理想直线型连接单体。作者认为，D更容易通过链扭转来适应框架拓扑，而P更倾向于伸展，形成不同的局部环境。比较两者，可以同时考察识别位点与构象适配的影响。不过，这并不是严格的单变量对照：供体数、芳香骨架和几何构型都在改变。因此，后续看到DAPhen性能更好时，不能把全部差别归因于多了一个氮原子。</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结构表征说明，作者确实把这些柔性单体组装进了有序框架。PXRD和结构模拟支持两种材料具有结晶性，最优拟合都采用ABC堆积。上方是原文的结构模型。最直观的区别是，DAPhen的BET比表面积为每克一千六百七十二平方米，Py为七百九十八平方米；但两者平均孔径都接近一点六纳米，所以性能差异不能简单概括为孔越大越好。右下方列的是干态模型的c轴参数，不应直接把它们都当成相邻两层的距离。正文还报告，五摩尔硝酸浸泡二十四小时后晶型总体保持，在一百到八百千戈瑞范围内也保持结构稳定。这些结果为后续酸性分离实验提供了材料基础。</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先看能去除多少，再讨论能否选择性分离。左侧是依据正文数值重绘的同酸度对比，全部是在零点五摩尔硝酸中。DAPhen对镎和钚的去除率分别为百分之九十九点一和九十五点八，显著高于Py的二十点八和二十七点五。对镅则不同：DAPhen此时只有百分之五十点九，Py未观察到去除，图上的零线只是表达这一结果，不代表精确检测限。右侧把酸度降到零点零一摩尔后，DAPhen对镅的去除率才达到百分之九十八点六，而Py仍只有三点三。两组实验的吸附剂用量、液体体积、温度和接触时间已列在下方。因此，可以说材料对三种超铀元素都能获得很高去除率，但必须说明它们不处于同一个酸度窗口。</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高去除率还不足以证明分离效果，因为镧系如果同时被大量吸附，仍然无法实现有效区分。这里使用分离因子，也就是超铀元素分配系数与镧系分配系数之比。左图对数横轴展示了镎与七种镧系的结果：镎镨最低也达到一百五十四，镎钆最高达到五千一百七十，说明镎的选择性确实十分突出。其他体系的量级更低，钚与镧系的分离因子为九到四十一，镅为四到二十。所以不能把镎钆这一最佳值推广成所有锕系镧系组合的表现。还要保留条件差异：镎和钚使用零点五摩尔硝酸，镅使用零点零一摩尔，竞争实验的超铀与镧系浓度比为一比一。这些条件决定了结果应如何被理解。</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进入机制之前，我想先界定性能结论的适用范围。作者报告，在涡旋振荡条件下，两种材料的吸附都可在二十分钟内达到平衡，说明混合条件下的吸附过程较快，但这不是固定床柱的穿透时间。酸度提高通常导致氮位点质子化，吸附能力下降，这也解释了为什么镅的高去除依赖低酸。另一个容易混淆的问题是指标：去除率、分配系数和饱和容量并不是一回事。本文对超铀元素使用低活度浓度，不能由接近完全的去除推断出很高的饱和载量。同样，耐酸和耐辐照的晶型稳定，也不自动等于长期运行中的选择性稳定。下面再看，作者用哪些证据解释这种分离表现。</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谱学证据首先回答哪些位点参与了结合。由于直接研究超铀元素存在实验困难，作者选择六价铀作为替代体系开展XPS和EXAFS。对于DAPhen，吸附铀之后，羰基氧的结合能发生零点一九电子伏特的位移，邻菲罗啉氮发生零点一四电子伏特的位移。这支持氮氧位点的电子环境在结合后发生变化。EXAFS的局部结构拟合进一步支持赤道面氧氮参与配位，同时铀酰轴向铀氧距离约为一点七七埃。这些证据与硬软供体组合的设计相吻合。但需要强调，它们来自铀体系；不同价态、不同离子的结构不能因此被直接视为相同。因此，较稳妥的结论是氮氧位点参与结合获得了替代实验支持，而不是所有超铀元素的吸附结构都已经被直接测定。</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理论计算进一步比较了不同材料的结合趋势。这里从原文表一中节选了镅和铕，因为它们都是三价离子，适合讨论锕系镧系辨识。相同材料模型内，镅的吸附能都比铕更负。DAPhen中二者相差每摩尔二点七七千卡，Py中只相差一点零三千卡，支持DAPhen对镅具有更强的相对偏好。从绝对数值看，DAPhen对这两种离子的结合也比Py更有利。但吸附能并不等于溶液中的自由能，不能直接由这张表换算实验分离因子。更重要的是，作者发现单片段计算尚不能解释实验中镎的特别突出。这提示我们，局部配位并不是全部答案，框架的层间空间可能也参与了结合。</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就引出了全文最有锕系化学特色的解释：锕酰与锕酰相互作用，简称AAI。镎酰离子除了在赤道面接受配体，还可以让一个镎酰的轴向氧参与另一个镎的赤道配位，从而形成多个镎之间的关联。作者因此构建了两层框架与三个五价镎的计算模型，如左图所示。优化后模型的层间距离为八点二三二埃，相应反应的吸附能为负六百七十一点零七千卡每摩尔。这提供了一种解释：DAPhen的层状组织可能不仅固定单个离子，还能促进多镎合作富集。不过，这个模型包含多个镎，反应计量与单片段模型不同，所以不能直接比较总能量就断言单离子结合增强多少。干态晶胞参数也不能直接等同于吸附后的层间距离。我认为，AAI是与实验趋势相容、很有启发性的计算解释，但还需要直接或原位结构证据验证。</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总结，我认为本文的主要价值在于把配位化学和框架空间放到同一个设计中考虑。刚柔调控让功能单体能够进入有序骨架，氮氧组合调节局部识别，层间组织又为镎酰合作结合提供可能。性能上最突出的结果是镎的选择性，而不是所有锕系离子都具有同等程度的优势。评价这项研究还要保留三点边界：镅的高去除依赖低酸，谱学主要来自铀替代体系，AAI机制目前主要是计算解释。所附正文也没有给出真实料液、动态柱和长期循环的完整验证。因此，后续可以重点考察复杂竞争条件、载量与再生，以及原位结构证据。我的汇报到这里，也想留下一个问题：怎样把镎的选择性优势，推广到更加苛刻的料液条件中？</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actinide_literature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actinide_literature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8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9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7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3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2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1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00" kern="1200">
          <a:solidFill>
            <a:schemeClr val="tx1"/>
          </a:solidFill>
          <a:latin typeface="+mn-lt"/>
          <a:ea typeface="+mn-ea"/>
          <a:cs typeface="+mn-cs"/>
        </a:defRPr>
      </a:lvl9pPr>
    </p:bodyStyle>
    <p:otherStyle>
      <a:defPPr>
        <a:defRPr lang="en-US"/>
      </a:defPPr>
      <a:lvl1pPr marL="0" algn="l" defTabSz="457200" rtl="0" eaLnBrk="1" latinLnBrk="0" hangingPunct="1">
        <a:defRPr sz="1950" kern="1200">
          <a:solidFill>
            <a:schemeClr val="tx1"/>
          </a:solidFill>
          <a:latin typeface="+mn-lt"/>
          <a:ea typeface="+mn-ea"/>
          <a:cs typeface="+mn-cs"/>
        </a:defRPr>
      </a:lvl1pPr>
      <a:lvl2pPr marL="457200" algn="l" defTabSz="457200" rtl="0" eaLnBrk="1" latinLnBrk="0" hangingPunct="1">
        <a:defRPr sz="1850" kern="1200">
          <a:solidFill>
            <a:schemeClr val="tx1"/>
          </a:solidFill>
          <a:latin typeface="+mn-lt"/>
          <a:ea typeface="+mn-ea"/>
          <a:cs typeface="+mn-cs"/>
        </a:defRPr>
      </a:lvl2pPr>
      <a:lvl3pPr marL="914400" algn="l" defTabSz="457200" rtl="0" eaLnBrk="1" latinLnBrk="0" hangingPunct="1">
        <a:defRPr sz="1700" kern="1200">
          <a:solidFill>
            <a:schemeClr val="tx1"/>
          </a:solidFill>
          <a:latin typeface="+mn-lt"/>
          <a:ea typeface="+mn-ea"/>
          <a:cs typeface="+mn-cs"/>
        </a:defRPr>
      </a:lvl3pPr>
      <a:lvl4pPr marL="1371600" algn="l" defTabSz="457200" rtl="0" eaLnBrk="1" latinLnBrk="0" hangingPunct="1">
        <a:defRPr sz="1600" kern="1200">
          <a:solidFill>
            <a:schemeClr val="tx1"/>
          </a:solidFill>
          <a:latin typeface="+mn-lt"/>
          <a:ea typeface="+mn-ea"/>
          <a:cs typeface="+mn-cs"/>
        </a:defRPr>
      </a:lvl4pPr>
      <a:lvl5pPr marL="1828800" algn="l" defTabSz="457200" rtl="0" eaLnBrk="1" latinLnBrk="0" hangingPunct="1">
        <a:defRPr sz="1450" kern="1200">
          <a:solidFill>
            <a:schemeClr val="tx1"/>
          </a:solidFill>
          <a:latin typeface="+mn-lt"/>
          <a:ea typeface="+mn-ea"/>
          <a:cs typeface="+mn-cs"/>
        </a:defRPr>
      </a:lvl5pPr>
      <a:lvl6pPr marL="2286000" algn="l" defTabSz="457200" rtl="0" eaLnBrk="1" latinLnBrk="0" hangingPunct="1">
        <a:defRPr sz="135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100" kern="1200">
          <a:solidFill>
            <a:schemeClr val="tx1"/>
          </a:solidFill>
          <a:latin typeface="+mn-lt"/>
          <a:ea typeface="+mn-ea"/>
          <a:cs typeface="+mn-cs"/>
        </a:defRPr>
      </a:lvl8pPr>
      <a:lvl9pPr marL="3657600" algn="l" defTabSz="457200" rtl="0" eaLnBrk="1" latinLnBrk="0" hangingPunct="1">
        <a:defRPr sz="1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35f639dce9d617c.jp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abe234dc30040ef.jp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f1401d3ca2d4410.jp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dfd36290d019cac.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Group 3"/>
          <p:cNvGrpSpPr/>
          <p:nvPr/>
        </p:nvGrpSpPr>
        <p:grpSpPr>
          <a:xfrm>
            <a:off x="601980" y="457200"/>
            <a:ext cx="2266760" cy="293370"/>
            <a:chOff x="601980" y="457200"/>
            <a:chExt cx="2266760" cy="293370"/>
          </a:xfrm>
        </p:grpSpPr>
        <p:sp>
          <p:nvSpPr>
            <p:cNvPr id="2" name="TextBox 2"/>
            <p:cNvSpPr txBox="1"/>
            <p:nvPr/>
          </p:nvSpPr>
          <p:spPr>
            <a:xfrm>
              <a:off x="601980" y="457200"/>
              <a:ext cx="226676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锕系元素化学 · 文献汇报</a:t>
              </a:r>
            </a:p>
          </p:txBody>
        </p:sp>
      </p:grpSp>
      <p:grpSp>
        <p:nvGrpSpPr>
          <p:cNvPr id="7" name="Group 7"/>
          <p:cNvGrpSpPr/>
          <p:nvPr/>
        </p:nvGrpSpPr>
        <p:grpSpPr>
          <a:xfrm>
            <a:off x="590550" y="1705928"/>
            <a:ext cx="5190344" cy="1913001"/>
            <a:chOff x="590550" y="1705928"/>
            <a:chExt cx="5190344" cy="1913001"/>
          </a:xfrm>
        </p:grpSpPr>
        <p:sp>
          <p:nvSpPr>
            <p:cNvPr id="4" name="TextBox 4"/>
            <p:cNvSpPr txBox="1"/>
            <p:nvPr/>
          </p:nvSpPr>
          <p:spPr>
            <a:xfrm>
              <a:off x="590550" y="1705928"/>
              <a:ext cx="5190344" cy="790575"/>
            </a:xfrm>
            <a:prstGeom prst="rect">
              <a:avLst/>
            </a:prstGeom>
            <a:noFill/>
            <a:ln>
              <a:noFill/>
            </a:ln>
          </p:spPr>
          <p:txBody>
            <a:bodyPr wrap="none" lIns="0" tIns="0" rIns="0" bIns="0" anchor="t" anchorCtr="0">
              <a:spAutoFit/>
            </a:bodyPr>
            <a:lstStyle/>
            <a:p>
              <a:pPr algn="l"/>
              <a:r>
                <a:rPr lang="zh-CN" sz="4050" b="1" dirty="0">
                  <a:solidFill>
                    <a:srgbClr val="FFFFFF"/>
                  </a:solidFill>
                  <a:latin typeface="+mn-lt"/>
                  <a:ea typeface="+mn-ea"/>
                  <a:cs typeface="+mn-cs"/>
                </a:rPr>
                <a:t>刚柔并济，软硬协同</a:t>
              </a:r>
            </a:p>
          </p:txBody>
        </p:sp>
        <p:sp>
          <p:nvSpPr>
            <p:cNvPr id="5" name="TextBox 5"/>
            <p:cNvSpPr txBox="1"/>
            <p:nvPr/>
          </p:nvSpPr>
          <p:spPr>
            <a:xfrm>
              <a:off x="598170" y="2557462"/>
              <a:ext cx="4611719" cy="440055"/>
            </a:xfrm>
            <a:prstGeom prst="rect">
              <a:avLst/>
            </a:prstGeom>
            <a:noFill/>
            <a:ln>
              <a:noFill/>
            </a:ln>
          </p:spPr>
          <p:txBody>
            <a:bodyPr wrap="none" lIns="0" tIns="0" rIns="0" bIns="0" anchor="t" anchorCtr="0">
              <a:spAutoFit/>
            </a:bodyPr>
            <a:lstStyle/>
            <a:p>
              <a:pPr algn="l"/>
              <a:r>
                <a:rPr lang="zh-CN" sz="2250" dirty="0">
                  <a:solidFill>
                    <a:srgbClr val="FFFFFF"/>
                  </a:solidFill>
                  <a:latin typeface="+mn-lt"/>
                  <a:ea typeface="+mn-ea"/>
                  <a:cs typeface="+mn-cs"/>
                </a:rPr>
                <a:t>共价有机框架中的锕系 / 镧系分离</a:t>
              </a:r>
            </a:p>
          </p:txBody>
        </p:sp>
        <p:sp>
          <p:nvSpPr>
            <p:cNvPr id="6" name="TextBox 6"/>
            <p:cNvSpPr txBox="1"/>
            <p:nvPr/>
          </p:nvSpPr>
          <p:spPr>
            <a:xfrm>
              <a:off x="599694" y="3237548"/>
              <a:ext cx="4305148" cy="381381"/>
            </a:xfrm>
            <a:prstGeom prst="rect">
              <a:avLst/>
            </a:prstGeom>
            <a:noFill/>
            <a:ln>
              <a:noFill/>
            </a:ln>
          </p:spPr>
          <p:txBody>
            <a:bodyPr wrap="none" lIns="0" tIns="0" rIns="0" bIns="0" anchor="t" anchorCtr="0">
              <a:spAutoFit/>
            </a:bodyPr>
            <a:lstStyle/>
            <a:p>
              <a:pPr algn="l"/>
              <a:r>
                <a:rPr lang="zh-CN" sz="1950" dirty="0">
                  <a:solidFill>
                    <a:srgbClr val="FFFFFF"/>
                  </a:solidFill>
                  <a:latin typeface="+mn-lt"/>
                  <a:ea typeface="+mn-ea"/>
                  <a:cs typeface="+mn-cs"/>
                </a:rPr>
                <a:t>从 N/O 配位识别，到层间协同富集</a:t>
              </a:r>
            </a:p>
          </p:txBody>
        </p:sp>
      </p:grpSp>
      <p:grpSp>
        <p:nvGrpSpPr>
          <p:cNvPr id="26" name="Group 26"/>
          <p:cNvGrpSpPr/>
          <p:nvPr/>
        </p:nvGrpSpPr>
        <p:grpSpPr>
          <a:xfrm>
            <a:off x="8934450" y="1943100"/>
            <a:ext cx="2362200" cy="3115056"/>
            <a:chOff x="8934450" y="1943100"/>
            <a:chExt cx="2362200" cy="3115056"/>
          </a:xfrm>
        </p:grpSpPr>
        <p:sp>
          <p:nvSpPr>
            <p:cNvPr id="8" name="Line 8"/>
            <p:cNvSpPr/>
            <p:nvPr/>
          </p:nvSpPr>
          <p:spPr>
            <a:xfrm>
              <a:off x="8934450" y="2190750"/>
              <a:ext cx="2362200" cy="9525"/>
            </a:xfrm>
            <a:custGeom>
              <a:avLst/>
              <a:gdLst/>
              <a:ahLst/>
              <a:cxnLst/>
              <a:rect l="l" t="t" r="r" b="b"/>
              <a:pathLst>
                <a:path w="2362200" h="9525">
                  <a:moveTo>
                    <a:pt x="0" y="0"/>
                  </a:moveTo>
                  <a:lnTo>
                    <a:pt x="2362200" y="0"/>
                  </a:lnTo>
                </a:path>
              </a:pathLst>
            </a:custGeom>
            <a:noFill/>
            <a:ln w="57150">
              <a:solidFill>
                <a:schemeClr val="accent2"/>
              </a:solidFill>
            </a:ln>
          </p:spPr>
        </p:sp>
        <p:sp>
          <p:nvSpPr>
            <p:cNvPr id="9" name="Line 9"/>
            <p:cNvSpPr/>
            <p:nvPr/>
          </p:nvSpPr>
          <p:spPr>
            <a:xfrm>
              <a:off x="8934450" y="3905250"/>
              <a:ext cx="2362200" cy="9525"/>
            </a:xfrm>
            <a:custGeom>
              <a:avLst/>
              <a:gdLst/>
              <a:ahLst/>
              <a:cxnLst/>
              <a:rect l="l" t="t" r="r" b="b"/>
              <a:pathLst>
                <a:path w="2362200" h="9525">
                  <a:moveTo>
                    <a:pt x="0" y="0"/>
                  </a:moveTo>
                  <a:lnTo>
                    <a:pt x="2362200" y="0"/>
                  </a:lnTo>
                </a:path>
              </a:pathLst>
            </a:custGeom>
            <a:noFill/>
            <a:ln w="57150">
              <a:solidFill>
                <a:schemeClr val="accent2"/>
              </a:solidFill>
            </a:ln>
          </p:spPr>
        </p:sp>
        <p:sp>
          <p:nvSpPr>
            <p:cNvPr id="10" name="Line 10"/>
            <p:cNvSpPr/>
            <p:nvPr/>
          </p:nvSpPr>
          <p:spPr>
            <a:xfrm>
              <a:off x="9277350" y="2190750"/>
              <a:ext cx="838200" cy="857250"/>
            </a:xfrm>
            <a:custGeom>
              <a:avLst/>
              <a:gdLst/>
              <a:ahLst/>
              <a:cxnLst/>
              <a:rect l="l" t="t" r="r" b="b"/>
              <a:pathLst>
                <a:path w="838200" h="857250">
                  <a:moveTo>
                    <a:pt x="0" y="0"/>
                  </a:moveTo>
                  <a:lnTo>
                    <a:pt x="838200" y="857250"/>
                  </a:lnTo>
                </a:path>
              </a:pathLst>
            </a:custGeom>
            <a:noFill/>
            <a:ln w="19050">
              <a:solidFill>
                <a:srgbClr val="FFFFFF"/>
              </a:solidFill>
            </a:ln>
          </p:spPr>
        </p:sp>
        <p:sp>
          <p:nvSpPr>
            <p:cNvPr id="11" name="Line 11"/>
            <p:cNvSpPr/>
            <p:nvPr/>
          </p:nvSpPr>
          <p:spPr>
            <a:xfrm>
              <a:off x="10115550" y="2190750"/>
              <a:ext cx="838200" cy="857250"/>
            </a:xfrm>
            <a:custGeom>
              <a:avLst/>
              <a:gdLst/>
              <a:ahLst/>
              <a:cxnLst/>
              <a:rect l="l" t="t" r="r" b="b"/>
              <a:pathLst>
                <a:path w="838200" h="857250">
                  <a:moveTo>
                    <a:pt x="838200" y="0"/>
                  </a:moveTo>
                  <a:lnTo>
                    <a:pt x="0" y="857250"/>
                  </a:lnTo>
                </a:path>
              </a:pathLst>
            </a:custGeom>
            <a:noFill/>
            <a:ln w="19050">
              <a:solidFill>
                <a:srgbClr val="FFFFFF"/>
              </a:solidFill>
            </a:ln>
          </p:spPr>
        </p:sp>
        <p:sp>
          <p:nvSpPr>
            <p:cNvPr id="12" name="Line 12"/>
            <p:cNvSpPr/>
            <p:nvPr/>
          </p:nvSpPr>
          <p:spPr>
            <a:xfrm>
              <a:off x="9277350" y="3048000"/>
              <a:ext cx="838200" cy="857250"/>
            </a:xfrm>
            <a:custGeom>
              <a:avLst/>
              <a:gdLst/>
              <a:ahLst/>
              <a:cxnLst/>
              <a:rect l="l" t="t" r="r" b="b"/>
              <a:pathLst>
                <a:path w="838200" h="857250">
                  <a:moveTo>
                    <a:pt x="0" y="857250"/>
                  </a:moveTo>
                  <a:lnTo>
                    <a:pt x="838200" y="0"/>
                  </a:lnTo>
                </a:path>
              </a:pathLst>
            </a:custGeom>
            <a:noFill/>
            <a:ln w="19050">
              <a:solidFill>
                <a:srgbClr val="FFFFFF"/>
              </a:solidFill>
            </a:ln>
          </p:spPr>
        </p:sp>
        <p:sp>
          <p:nvSpPr>
            <p:cNvPr id="13" name="Line 13"/>
            <p:cNvSpPr/>
            <p:nvPr/>
          </p:nvSpPr>
          <p:spPr>
            <a:xfrm>
              <a:off x="10115550" y="3048000"/>
              <a:ext cx="838200" cy="857250"/>
            </a:xfrm>
            <a:custGeom>
              <a:avLst/>
              <a:gdLst/>
              <a:ahLst/>
              <a:cxnLst/>
              <a:rect l="l" t="t" r="r" b="b"/>
              <a:pathLst>
                <a:path w="838200" h="857250">
                  <a:moveTo>
                    <a:pt x="838200" y="857250"/>
                  </a:moveTo>
                  <a:lnTo>
                    <a:pt x="0" y="0"/>
                  </a:lnTo>
                </a:path>
              </a:pathLst>
            </a:custGeom>
            <a:noFill/>
            <a:ln w="19050">
              <a:solidFill>
                <a:srgbClr val="FFFFFF"/>
              </a:solidFill>
            </a:ln>
          </p:spPr>
        </p:sp>
        <p:sp>
          <p:nvSpPr>
            <p:cNvPr id="14" name="Ellipse 14"/>
            <p:cNvSpPr/>
            <p:nvPr/>
          </p:nvSpPr>
          <p:spPr>
            <a:xfrm>
              <a:off x="9029700" y="1943100"/>
              <a:ext cx="495300" cy="495300"/>
            </a:xfrm>
            <a:prstGeom prst="ellipse">
              <a:avLst/>
            </a:prstGeom>
            <a:solidFill>
              <a:schemeClr val="accent2"/>
            </a:solidFill>
            <a:ln>
              <a:noFill/>
            </a:ln>
          </p:spPr>
        </p:sp>
        <p:sp>
          <p:nvSpPr>
            <p:cNvPr id="15" name="Ellipse 15"/>
            <p:cNvSpPr/>
            <p:nvPr/>
          </p:nvSpPr>
          <p:spPr>
            <a:xfrm>
              <a:off x="10706100" y="1943100"/>
              <a:ext cx="495300" cy="495300"/>
            </a:xfrm>
            <a:prstGeom prst="ellipse">
              <a:avLst/>
            </a:prstGeom>
            <a:solidFill>
              <a:schemeClr val="accent3"/>
            </a:solidFill>
            <a:ln>
              <a:noFill/>
            </a:ln>
          </p:spPr>
        </p:sp>
        <p:sp>
          <p:nvSpPr>
            <p:cNvPr id="16" name="Ellipse 16"/>
            <p:cNvSpPr/>
            <p:nvPr/>
          </p:nvSpPr>
          <p:spPr>
            <a:xfrm>
              <a:off x="9029700" y="3657600"/>
              <a:ext cx="495300" cy="495300"/>
            </a:xfrm>
            <a:prstGeom prst="ellipse">
              <a:avLst/>
            </a:prstGeom>
            <a:solidFill>
              <a:schemeClr val="accent3"/>
            </a:solidFill>
            <a:ln>
              <a:noFill/>
            </a:ln>
          </p:spPr>
        </p:sp>
        <p:sp>
          <p:nvSpPr>
            <p:cNvPr id="17" name="Ellipse 17"/>
            <p:cNvSpPr/>
            <p:nvPr/>
          </p:nvSpPr>
          <p:spPr>
            <a:xfrm>
              <a:off x="10706100" y="3657600"/>
              <a:ext cx="495300" cy="495300"/>
            </a:xfrm>
            <a:prstGeom prst="ellipse">
              <a:avLst/>
            </a:prstGeom>
            <a:solidFill>
              <a:schemeClr val="accent2"/>
            </a:solidFill>
            <a:ln>
              <a:noFill/>
            </a:ln>
          </p:spPr>
        </p:sp>
        <p:sp>
          <p:nvSpPr>
            <p:cNvPr id="18" name="Ellipse 18"/>
            <p:cNvSpPr/>
            <p:nvPr/>
          </p:nvSpPr>
          <p:spPr>
            <a:xfrm>
              <a:off x="9753600" y="2686050"/>
              <a:ext cx="723900" cy="723900"/>
            </a:xfrm>
            <a:prstGeom prst="ellipse">
              <a:avLst/>
            </a:prstGeom>
            <a:solidFill>
              <a:schemeClr val="lt1"/>
            </a:solidFill>
            <a:ln>
              <a:noFill/>
            </a:ln>
          </p:spPr>
        </p:sp>
        <p:sp>
          <p:nvSpPr>
            <p:cNvPr id="19" name="TextBox 19"/>
            <p:cNvSpPr txBox="1"/>
            <p:nvPr/>
          </p:nvSpPr>
          <p:spPr>
            <a:xfrm>
              <a:off x="9191168" y="2056448"/>
              <a:ext cx="172364" cy="381381"/>
            </a:xfrm>
            <a:prstGeom prst="rect">
              <a:avLst/>
            </a:prstGeom>
            <a:noFill/>
            <a:ln>
              <a:noFill/>
            </a:ln>
          </p:spPr>
          <p:txBody>
            <a:bodyPr wrap="none" lIns="0" tIns="0" rIns="0" bIns="0" anchor="t" anchorCtr="0">
              <a:spAutoFit/>
            </a:bodyPr>
            <a:lstStyle/>
            <a:p>
              <a:pPr algn="ctr"/>
              <a:r>
                <a:rPr lang="zh-CN" sz="1950" dirty="0">
                  <a:solidFill>
                    <a:srgbClr val="FFFFFF"/>
                  </a:solidFill>
                  <a:latin typeface="+mn-lt"/>
                  <a:ea typeface="+mn-ea"/>
                  <a:cs typeface="+mn-cs"/>
                </a:rPr>
                <a:t>N</a:t>
              </a:r>
            </a:p>
          </p:txBody>
        </p:sp>
        <p:sp>
          <p:nvSpPr>
            <p:cNvPr id="20" name="TextBox 20"/>
            <p:cNvSpPr txBox="1"/>
            <p:nvPr/>
          </p:nvSpPr>
          <p:spPr>
            <a:xfrm>
              <a:off x="10839831" y="2056448"/>
              <a:ext cx="227838" cy="381381"/>
            </a:xfrm>
            <a:prstGeom prst="rect">
              <a:avLst/>
            </a:prstGeom>
            <a:noFill/>
            <a:ln>
              <a:noFill/>
            </a:ln>
          </p:spPr>
          <p:txBody>
            <a:bodyPr wrap="none" lIns="0" tIns="0" rIns="0" bIns="0" anchor="t" anchorCtr="0">
              <a:spAutoFit/>
            </a:bodyPr>
            <a:lstStyle/>
            <a:p>
              <a:pPr algn="ctr"/>
              <a:r>
                <a:rPr lang="zh-CN" sz="1950" dirty="0">
                  <a:solidFill>
                    <a:srgbClr val="FFFFFF"/>
                  </a:solidFill>
                  <a:latin typeface="+mn-lt"/>
                  <a:ea typeface="+mn-ea"/>
                  <a:cs typeface="+mn-cs"/>
                </a:rPr>
                <a:t>O</a:t>
              </a:r>
            </a:p>
          </p:txBody>
        </p:sp>
        <p:sp>
          <p:nvSpPr>
            <p:cNvPr id="21" name="TextBox 21"/>
            <p:cNvSpPr txBox="1"/>
            <p:nvPr/>
          </p:nvSpPr>
          <p:spPr>
            <a:xfrm>
              <a:off x="9163431" y="3770948"/>
              <a:ext cx="227838" cy="381381"/>
            </a:xfrm>
            <a:prstGeom prst="rect">
              <a:avLst/>
            </a:prstGeom>
            <a:noFill/>
            <a:ln>
              <a:noFill/>
            </a:ln>
          </p:spPr>
          <p:txBody>
            <a:bodyPr wrap="none" lIns="0" tIns="0" rIns="0" bIns="0" anchor="t" anchorCtr="0">
              <a:spAutoFit/>
            </a:bodyPr>
            <a:lstStyle/>
            <a:p>
              <a:pPr algn="ctr"/>
              <a:r>
                <a:rPr lang="zh-CN" sz="1950" dirty="0">
                  <a:solidFill>
                    <a:srgbClr val="FFFFFF"/>
                  </a:solidFill>
                  <a:latin typeface="+mn-lt"/>
                  <a:ea typeface="+mn-ea"/>
                  <a:cs typeface="+mn-cs"/>
                </a:rPr>
                <a:t>O</a:t>
              </a:r>
            </a:p>
          </p:txBody>
        </p:sp>
        <p:sp>
          <p:nvSpPr>
            <p:cNvPr id="22" name="TextBox 22"/>
            <p:cNvSpPr txBox="1"/>
            <p:nvPr/>
          </p:nvSpPr>
          <p:spPr>
            <a:xfrm>
              <a:off x="10867568" y="3770948"/>
              <a:ext cx="172364" cy="381381"/>
            </a:xfrm>
            <a:prstGeom prst="rect">
              <a:avLst/>
            </a:prstGeom>
            <a:noFill/>
            <a:ln>
              <a:noFill/>
            </a:ln>
          </p:spPr>
          <p:txBody>
            <a:bodyPr wrap="none" lIns="0" tIns="0" rIns="0" bIns="0" anchor="t" anchorCtr="0">
              <a:spAutoFit/>
            </a:bodyPr>
            <a:lstStyle/>
            <a:p>
              <a:pPr algn="ctr"/>
              <a:r>
                <a:rPr lang="zh-CN" sz="1950" dirty="0">
                  <a:solidFill>
                    <a:srgbClr val="FFFFFF"/>
                  </a:solidFill>
                  <a:latin typeface="+mn-lt"/>
                  <a:ea typeface="+mn-ea"/>
                  <a:cs typeface="+mn-cs"/>
                </a:rPr>
                <a:t>N</a:t>
              </a:r>
            </a:p>
          </p:txBody>
        </p:sp>
        <p:sp>
          <p:nvSpPr>
            <p:cNvPr id="23" name="TextBox 23"/>
            <p:cNvSpPr txBox="1"/>
            <p:nvPr/>
          </p:nvSpPr>
          <p:spPr>
            <a:xfrm>
              <a:off x="9949755" y="2923222"/>
              <a:ext cx="331591" cy="381381"/>
            </a:xfrm>
            <a:prstGeom prst="rect">
              <a:avLst/>
            </a:prstGeom>
            <a:noFill/>
            <a:ln>
              <a:noFill/>
            </a:ln>
          </p:spPr>
          <p:txBody>
            <a:bodyPr wrap="none" lIns="0" tIns="0" rIns="0" bIns="0" anchor="t" anchorCtr="0">
              <a:spAutoFit/>
            </a:bodyPr>
            <a:lstStyle/>
            <a:p>
              <a:pPr algn="ctr"/>
              <a:r>
                <a:rPr lang="zh-CN" sz="1950" b="1" dirty="0">
                  <a:solidFill>
                    <a:schemeClr val="accent1"/>
                  </a:solidFill>
                  <a:latin typeface="+mn-lt"/>
                  <a:ea typeface="+mn-ea"/>
                  <a:cs typeface="+mn-cs"/>
                </a:rPr>
                <a:t>An</a:t>
              </a:r>
            </a:p>
          </p:txBody>
        </p:sp>
        <p:sp>
          <p:nvSpPr>
            <p:cNvPr id="24" name="TextBox 24"/>
            <p:cNvSpPr txBox="1"/>
            <p:nvPr/>
          </p:nvSpPr>
          <p:spPr>
            <a:xfrm>
              <a:off x="9184100" y="4486275"/>
              <a:ext cx="1862900" cy="293370"/>
            </a:xfrm>
            <a:prstGeom prst="rect">
              <a:avLst/>
            </a:prstGeom>
            <a:noFill/>
            <a:ln>
              <a:noFill/>
            </a:ln>
          </p:spPr>
          <p:txBody>
            <a:bodyPr wrap="none" lIns="0" tIns="0" rIns="0" bIns="0" anchor="t" anchorCtr="0">
              <a:spAutoFit/>
            </a:bodyPr>
            <a:lstStyle/>
            <a:p>
              <a:pPr algn="ctr"/>
              <a:r>
                <a:rPr lang="zh-CN" sz="1500" dirty="0">
                  <a:solidFill>
                    <a:srgbClr val="FFFFFF"/>
                  </a:solidFill>
                  <a:latin typeface="+mn-lt"/>
                  <a:ea typeface="+mn-ea"/>
                  <a:cs typeface="+mn-cs"/>
                </a:rPr>
                <a:t>框架空间 × 配位位点</a:t>
              </a:r>
            </a:p>
          </p:txBody>
        </p:sp>
        <p:sp>
          <p:nvSpPr>
            <p:cNvPr id="25" name="TextBox 25"/>
            <p:cNvSpPr txBox="1"/>
            <p:nvPr/>
          </p:nvSpPr>
          <p:spPr>
            <a:xfrm>
              <a:off x="9140190" y="4823460"/>
              <a:ext cx="1950720"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概念示意，非真实配位结构</a:t>
              </a:r>
            </a:p>
          </p:txBody>
        </p:sp>
      </p:grpSp>
      <p:grpSp>
        <p:nvGrpSpPr>
          <p:cNvPr id="30" name="Group 30"/>
          <p:cNvGrpSpPr/>
          <p:nvPr/>
        </p:nvGrpSpPr>
        <p:grpSpPr>
          <a:xfrm>
            <a:off x="601980" y="4886325"/>
            <a:ext cx="4991938" cy="857631"/>
            <a:chOff x="601980" y="4886325"/>
            <a:chExt cx="4991938" cy="857631"/>
          </a:xfrm>
        </p:grpSpPr>
        <p:sp>
          <p:nvSpPr>
            <p:cNvPr id="27" name="TextBox 27"/>
            <p:cNvSpPr txBox="1"/>
            <p:nvPr/>
          </p:nvSpPr>
          <p:spPr>
            <a:xfrm>
              <a:off x="601980" y="4886325"/>
              <a:ext cx="4977194"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Cao et al. · Advanced Materials 2025, 37, 2414659</a:t>
              </a:r>
            </a:p>
          </p:txBody>
        </p:sp>
        <p:sp>
          <p:nvSpPr>
            <p:cNvPr id="28" name="TextBox 28"/>
            <p:cNvSpPr txBox="1"/>
            <p:nvPr/>
          </p:nvSpPr>
          <p:spPr>
            <a:xfrm>
              <a:off x="603504" y="5242560"/>
              <a:ext cx="4990414" cy="234696"/>
            </a:xfrm>
            <a:prstGeom prst="rect">
              <a:avLst/>
            </a:prstGeom>
            <a:noFill/>
            <a:ln>
              <a:noFill/>
            </a:ln>
          </p:spPr>
          <p:txBody>
            <a:bodyPr wrap="none" lIns="0" tIns="0" rIns="0" bIns="0" anchor="t" anchorCtr="0">
              <a:spAutoFit/>
            </a:bodyPr>
            <a:lstStyle/>
            <a:p>
              <a:pPr algn="l"/>
              <a:r>
                <a:rPr lang="zh-CN" sz="1200" dirty="0">
                  <a:solidFill>
                    <a:srgbClr val="FFFFFF"/>
                  </a:solidFill>
                  <a:latin typeface="+mn-lt"/>
                  <a:ea typeface="+mn-ea"/>
                  <a:cs typeface="+mn-cs"/>
                </a:rPr>
                <a:t>Rigidity-Flexibility Regulation and Hard-Soft Donor Combination</a:t>
              </a:r>
            </a:p>
          </p:txBody>
        </p:sp>
        <p:sp>
          <p:nvSpPr>
            <p:cNvPr id="29" name="TextBox 29"/>
            <p:cNvSpPr txBox="1"/>
            <p:nvPr/>
          </p:nvSpPr>
          <p:spPr>
            <a:xfrm>
              <a:off x="603504" y="5509260"/>
              <a:ext cx="4330773" cy="234696"/>
            </a:xfrm>
            <a:prstGeom prst="rect">
              <a:avLst/>
            </a:prstGeom>
            <a:noFill/>
            <a:ln>
              <a:noFill/>
            </a:ln>
          </p:spPr>
          <p:txBody>
            <a:bodyPr wrap="none" lIns="0" tIns="0" rIns="0" bIns="0" anchor="t" anchorCtr="0">
              <a:spAutoFit/>
            </a:bodyPr>
            <a:lstStyle/>
            <a:p>
              <a:pPr algn="l"/>
              <a:r>
                <a:rPr lang="zh-CN" sz="1200" dirty="0">
                  <a:solidFill>
                    <a:srgbClr val="FFFFFF"/>
                  </a:solidFill>
                  <a:latin typeface="+mn-lt"/>
                  <a:ea typeface="+mn-ea"/>
                  <a:cs typeface="+mn-cs"/>
                </a:rPr>
                <a:t>DOI: 10.1002/adma.202414659 · 2024 年 12 月在线发表</a:t>
              </a:r>
            </a:p>
          </p:txBody>
        </p:sp>
      </p:grpSp>
      <p:grpSp>
        <p:nvGrpSpPr>
          <p:cNvPr id="34" name="Group 34"/>
          <p:cNvGrpSpPr/>
          <p:nvPr/>
        </p:nvGrpSpPr>
        <p:grpSpPr>
          <a:xfrm>
            <a:off x="603504" y="6229350"/>
            <a:ext cx="10984992" cy="419481"/>
            <a:chOff x="603504" y="6229350"/>
            <a:chExt cx="10984992" cy="419481"/>
          </a:xfrm>
        </p:grpSpPr>
        <p:sp>
          <p:nvSpPr>
            <p:cNvPr id="31" name="Line 31"/>
            <p:cNvSpPr/>
            <p:nvPr/>
          </p:nvSpPr>
          <p:spPr>
            <a:xfrm>
              <a:off x="609600" y="6229350"/>
              <a:ext cx="10972800" cy="9525"/>
            </a:xfrm>
            <a:custGeom>
              <a:avLst/>
              <a:gdLst/>
              <a:ahLst/>
              <a:cxnLst/>
              <a:rect l="l" t="t" r="r" b="b"/>
              <a:pathLst>
                <a:path w="10972800" h="9525">
                  <a:moveTo>
                    <a:pt x="0" y="0"/>
                  </a:moveTo>
                  <a:lnTo>
                    <a:pt x="10972800" y="0"/>
                  </a:lnTo>
                </a:path>
              </a:pathLst>
            </a:custGeom>
            <a:noFill/>
            <a:ln w="9525">
              <a:solidFill>
                <a:srgbClr val="647884"/>
              </a:solidFill>
            </a:ln>
          </p:spPr>
        </p:sp>
        <p:sp>
          <p:nvSpPr>
            <p:cNvPr id="32" name="TextBox 32"/>
            <p:cNvSpPr txBox="1"/>
            <p:nvPr/>
          </p:nvSpPr>
          <p:spPr>
            <a:xfrm>
              <a:off x="603504" y="6414135"/>
              <a:ext cx="3038094" cy="234696"/>
            </a:xfrm>
            <a:prstGeom prst="rect">
              <a:avLst/>
            </a:prstGeom>
            <a:noFill/>
            <a:ln>
              <a:noFill/>
            </a:ln>
          </p:spPr>
          <p:txBody>
            <a:bodyPr wrap="none" lIns="0" tIns="0" rIns="0" bIns="0" anchor="t" anchorCtr="0">
              <a:spAutoFit/>
            </a:bodyPr>
            <a:lstStyle/>
            <a:p>
              <a:pPr algn="l"/>
              <a:r>
                <a:rPr lang="zh-CN" sz="1200" dirty="0">
                  <a:solidFill>
                    <a:srgbClr val="FFFFFF"/>
                  </a:solidFill>
                  <a:latin typeface="+mn-lt"/>
                  <a:ea typeface="+mn-ea"/>
                  <a:cs typeface="+mn-cs"/>
                </a:rPr>
                <a:t>DAPhen-COF · 双策略设计 · 10–12 分钟</a:t>
              </a:r>
            </a:p>
          </p:txBody>
        </p:sp>
        <p:sp>
          <p:nvSpPr>
            <p:cNvPr id="33" name="TextBox 33"/>
            <p:cNvSpPr txBox="1"/>
            <p:nvPr/>
          </p:nvSpPr>
          <p:spPr>
            <a:xfrm>
              <a:off x="11035132" y="6414135"/>
              <a:ext cx="553364" cy="234696"/>
            </a:xfrm>
            <a:prstGeom prst="rect">
              <a:avLst/>
            </a:prstGeom>
            <a:noFill/>
            <a:ln>
              <a:noFill/>
            </a:ln>
          </p:spPr>
          <p:txBody>
            <a:bodyPr wrap="none" lIns="0" tIns="0" rIns="0" bIns="0" anchor="t" anchorCtr="0">
              <a:spAutoFit/>
            </a:bodyPr>
            <a:lstStyle/>
            <a:p>
              <a:pPr algn="r"/>
              <a:r>
                <a:rPr lang="zh-CN" sz="1200" dirty="0">
                  <a:solidFill>
                    <a:srgbClr val="FFFFFF"/>
                  </a:solidFill>
                  <a:latin typeface="+mn-lt"/>
                  <a:ea typeface="+mn-ea"/>
                  <a:cs typeface="+mn-cs"/>
                </a:rPr>
                <a:t>01 / 12</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8922" y="361950"/>
            <a:ext cx="6877412" cy="945071"/>
            <a:chOff x="518922" y="361950"/>
            <a:chExt cx="6877412" cy="945071"/>
          </a:xfrm>
        </p:grpSpPr>
        <p:sp>
          <p:nvSpPr>
            <p:cNvPr id="2" name="TextBox 2"/>
            <p:cNvSpPr txBox="1"/>
            <p:nvPr/>
          </p:nvSpPr>
          <p:spPr>
            <a:xfrm>
              <a:off x="525780" y="361950"/>
              <a:ext cx="1277302" cy="293370"/>
            </a:xfrm>
            <a:prstGeom prst="rect">
              <a:avLst/>
            </a:prstGeom>
            <a:noFill/>
            <a:ln>
              <a:noFill/>
            </a:ln>
          </p:spPr>
          <p:txBody>
            <a:bodyPr wrap="none" lIns="0" tIns="0" rIns="0" bIns="0" anchor="t" anchorCtr="0">
              <a:spAutoFit/>
            </a:bodyPr>
            <a:lstStyle/>
            <a:p>
              <a:pPr algn="l"/>
              <a:r>
                <a:rPr lang="zh-CN" sz="1500" dirty="0">
                  <a:solidFill>
                    <a:schemeClr val="accent2"/>
                  </a:solidFill>
                  <a:latin typeface="+mn-lt"/>
                  <a:ea typeface="+mn-ea"/>
                  <a:cs typeface="+mn-cs"/>
                </a:rPr>
                <a:t>01 / 研究问题</a:t>
              </a:r>
            </a:p>
          </p:txBody>
        </p:sp>
        <p:sp>
          <p:nvSpPr>
            <p:cNvPr id="3" name="TextBox 3"/>
            <p:cNvSpPr txBox="1"/>
            <p:nvPr/>
          </p:nvSpPr>
          <p:spPr>
            <a:xfrm>
              <a:off x="518922" y="749618"/>
              <a:ext cx="6877412"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分离目标相似，配位选择性必须更精细</a:t>
              </a:r>
            </a:p>
          </p:txBody>
        </p:sp>
      </p:grpSp>
      <p:grpSp>
        <p:nvGrpSpPr>
          <p:cNvPr id="14" name="Group 14"/>
          <p:cNvGrpSpPr/>
          <p:nvPr/>
        </p:nvGrpSpPr>
        <p:grpSpPr>
          <a:xfrm>
            <a:off x="533400" y="1524000"/>
            <a:ext cx="5238750" cy="4210050"/>
            <a:chOff x="533400" y="1524000"/>
            <a:chExt cx="5238750" cy="4210050"/>
          </a:xfrm>
        </p:grpSpPr>
        <p:sp>
          <p:nvSpPr>
            <p:cNvPr id="5" name="Rectangle 5"/>
            <p:cNvSpPr/>
            <p:nvPr/>
          </p:nvSpPr>
          <p:spPr>
            <a:xfrm>
              <a:off x="533400" y="1524000"/>
              <a:ext cx="5238750" cy="4210050"/>
            </a:xfrm>
            <a:prstGeom prst="rect">
              <a:avLst/>
            </a:prstGeom>
            <a:solidFill>
              <a:schemeClr val="accent5"/>
            </a:solidFill>
            <a:ln>
              <a:noFill/>
            </a:ln>
          </p:spPr>
        </p:sp>
        <p:sp>
          <p:nvSpPr>
            <p:cNvPr id="6" name="TextBox 6"/>
            <p:cNvSpPr txBox="1"/>
            <p:nvPr/>
          </p:nvSpPr>
          <p:spPr>
            <a:xfrm>
              <a:off x="789432" y="1716405"/>
              <a:ext cx="328654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核燃料循环中的分离任务</a:t>
              </a:r>
            </a:p>
          </p:txBody>
        </p:sp>
        <p:sp>
          <p:nvSpPr>
            <p:cNvPr id="7" name="TextBox 7"/>
            <p:cNvSpPr txBox="1"/>
            <p:nvPr/>
          </p:nvSpPr>
          <p:spPr>
            <a:xfrm>
              <a:off x="790194" y="2218372"/>
              <a:ext cx="294213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高放废液中的 TRU 与 Ln</a:t>
              </a:r>
            </a:p>
          </p:txBody>
        </p:sp>
        <p:sp>
          <p:nvSpPr>
            <p:cNvPr id="8" name="Line 8"/>
            <p:cNvSpPr/>
            <p:nvPr/>
          </p:nvSpPr>
          <p:spPr>
            <a:xfrm>
              <a:off x="800100" y="2781300"/>
              <a:ext cx="4648200" cy="9525"/>
            </a:xfrm>
            <a:custGeom>
              <a:avLst/>
              <a:gdLst/>
              <a:ahLst/>
              <a:cxnLst/>
              <a:rect l="l" t="t" r="r" b="b"/>
              <a:pathLst>
                <a:path w="4648200" h="9525">
                  <a:moveTo>
                    <a:pt x="0" y="0"/>
                  </a:moveTo>
                  <a:lnTo>
                    <a:pt x="4648200" y="0"/>
                  </a:lnTo>
                </a:path>
              </a:pathLst>
            </a:custGeom>
            <a:noFill/>
            <a:ln w="19050">
              <a:solidFill>
                <a:srgbClr val="CEDBE1"/>
              </a:solidFill>
            </a:ln>
          </p:spPr>
        </p:sp>
        <p:sp>
          <p:nvSpPr>
            <p:cNvPr id="9" name="TextBox 9"/>
            <p:cNvSpPr txBox="1"/>
            <p:nvPr/>
          </p:nvSpPr>
          <p:spPr>
            <a:xfrm>
              <a:off x="788670" y="3033712"/>
              <a:ext cx="1350226"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回收 TRU</a:t>
              </a:r>
            </a:p>
          </p:txBody>
        </p:sp>
        <p:sp>
          <p:nvSpPr>
            <p:cNvPr id="10" name="TextBox 10"/>
            <p:cNvSpPr txBox="1"/>
            <p:nvPr/>
          </p:nvSpPr>
          <p:spPr>
            <a:xfrm>
              <a:off x="790194" y="3485198"/>
              <a:ext cx="2607861"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NpO₂⁺　Pu⁴⁺　Am³⁺</a:t>
              </a:r>
            </a:p>
          </p:txBody>
        </p:sp>
        <p:sp>
          <p:nvSpPr>
            <p:cNvPr id="11" name="TextBox 11"/>
            <p:cNvSpPr txBox="1"/>
            <p:nvPr/>
          </p:nvSpPr>
          <p:spPr>
            <a:xfrm>
              <a:off x="788670" y="4138612"/>
              <a:ext cx="1494544" cy="440055"/>
            </a:xfrm>
            <a:prstGeom prst="rect">
              <a:avLst/>
            </a:prstGeom>
            <a:noFill/>
            <a:ln>
              <a:noFill/>
            </a:ln>
          </p:spPr>
          <p:txBody>
            <a:bodyPr wrap="none" lIns="0" tIns="0" rIns="0" bIns="0" anchor="t" anchorCtr="0">
              <a:spAutoFit/>
            </a:bodyPr>
            <a:lstStyle/>
            <a:p>
              <a:pPr algn="l"/>
              <a:r>
                <a:rPr lang="zh-CN" sz="2250" b="1" dirty="0">
                  <a:solidFill>
                    <a:schemeClr val="accent3"/>
                  </a:solidFill>
                  <a:latin typeface="+mn-lt"/>
                  <a:ea typeface="+mn-ea"/>
                  <a:cs typeface="+mn-cs"/>
                </a:rPr>
                <a:t>分离 Ln³⁺</a:t>
              </a:r>
            </a:p>
          </p:txBody>
        </p:sp>
        <p:sp>
          <p:nvSpPr>
            <p:cNvPr id="12" name="TextBox 12"/>
            <p:cNvSpPr txBox="1"/>
            <p:nvPr/>
          </p:nvSpPr>
          <p:spPr>
            <a:xfrm>
              <a:off x="790194" y="4590098"/>
              <a:ext cx="2119884"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减少中子吸收竞争</a:t>
              </a:r>
            </a:p>
          </p:txBody>
        </p:sp>
        <p:sp>
          <p:nvSpPr>
            <p:cNvPr id="13" name="TextBox 13"/>
            <p:cNvSpPr txBox="1"/>
            <p:nvPr/>
          </p:nvSpPr>
          <p:spPr>
            <a:xfrm>
              <a:off x="792480" y="5219700"/>
              <a:ext cx="3357182"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服务分离—嬗变，降低长期放射性负担</a:t>
              </a:r>
            </a:p>
          </p:txBody>
        </p:sp>
      </p:grpSp>
      <p:grpSp>
        <p:nvGrpSpPr>
          <p:cNvPr id="22" name="Group 22"/>
          <p:cNvGrpSpPr/>
          <p:nvPr/>
        </p:nvGrpSpPr>
        <p:grpSpPr>
          <a:xfrm>
            <a:off x="6294120" y="1643062"/>
            <a:ext cx="4475416" cy="3890391"/>
            <a:chOff x="6294120" y="1643062"/>
            <a:chExt cx="4475416" cy="3890391"/>
          </a:xfrm>
        </p:grpSpPr>
        <p:sp>
          <p:nvSpPr>
            <p:cNvPr id="15" name="TextBox 15"/>
            <p:cNvSpPr txBox="1"/>
            <p:nvPr/>
          </p:nvSpPr>
          <p:spPr>
            <a:xfrm>
              <a:off x="6294120" y="1643062"/>
              <a:ext cx="4475416"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同一种吸附剂，要跨过三道门槛</a:t>
              </a:r>
            </a:p>
          </p:txBody>
        </p:sp>
        <p:sp>
          <p:nvSpPr>
            <p:cNvPr id="16" name="TextBox 16"/>
            <p:cNvSpPr txBox="1"/>
            <p:nvPr/>
          </p:nvSpPr>
          <p:spPr>
            <a:xfrm>
              <a:off x="6294882" y="2392680"/>
              <a:ext cx="1208684"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化学相似</a:t>
              </a:r>
            </a:p>
          </p:txBody>
        </p:sp>
        <p:sp>
          <p:nvSpPr>
            <p:cNvPr id="17" name="TextBox 17"/>
            <p:cNvSpPr txBox="1"/>
            <p:nvPr/>
          </p:nvSpPr>
          <p:spPr>
            <a:xfrm>
              <a:off x="6295644" y="2808922"/>
              <a:ext cx="3432429"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尤其是三价锕系与镧系的辨识</a:t>
              </a:r>
            </a:p>
          </p:txBody>
        </p:sp>
        <p:sp>
          <p:nvSpPr>
            <p:cNvPr id="18" name="TextBox 18"/>
            <p:cNvSpPr txBox="1"/>
            <p:nvPr/>
          </p:nvSpPr>
          <p:spPr>
            <a:xfrm>
              <a:off x="6294882" y="3564255"/>
              <a:ext cx="1208684"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酸性竞争</a:t>
              </a:r>
            </a:p>
          </p:txBody>
        </p:sp>
        <p:sp>
          <p:nvSpPr>
            <p:cNvPr id="19" name="TextBox 19"/>
            <p:cNvSpPr txBox="1"/>
            <p:nvPr/>
          </p:nvSpPr>
          <p:spPr>
            <a:xfrm>
              <a:off x="6295644" y="3980498"/>
              <a:ext cx="3432429"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硝酸中的位点质子化抑制配位</a:t>
              </a:r>
            </a:p>
          </p:txBody>
        </p:sp>
        <p:sp>
          <p:nvSpPr>
            <p:cNvPr id="20" name="TextBox 20"/>
            <p:cNvSpPr txBox="1"/>
            <p:nvPr/>
          </p:nvSpPr>
          <p:spPr>
            <a:xfrm>
              <a:off x="6294882" y="4735830"/>
              <a:ext cx="1505522"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多价态共存</a:t>
              </a:r>
            </a:p>
          </p:txBody>
        </p:sp>
        <p:sp>
          <p:nvSpPr>
            <p:cNvPr id="21" name="TextBox 21"/>
            <p:cNvSpPr txBox="1"/>
            <p:nvPr/>
          </p:nvSpPr>
          <p:spPr>
            <a:xfrm>
              <a:off x="6295644" y="5152072"/>
              <a:ext cx="3432429"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锕酰离子与球形离子几何不同</a:t>
              </a:r>
            </a:p>
          </p:txBody>
        </p:sp>
      </p:grpSp>
      <p:grpSp>
        <p:nvGrpSpPr>
          <p:cNvPr id="26" name="Group 26"/>
          <p:cNvGrpSpPr/>
          <p:nvPr/>
        </p:nvGrpSpPr>
        <p:grpSpPr>
          <a:xfrm>
            <a:off x="527304" y="6305550"/>
            <a:ext cx="11137392" cy="371856"/>
            <a:chOff x="527304" y="6305550"/>
            <a:chExt cx="11137392" cy="371856"/>
          </a:xfrm>
        </p:grpSpPr>
        <p:sp>
          <p:nvSpPr>
            <p:cNvPr id="23" name="Line 23"/>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rgbClr val="CEDBE1"/>
              </a:solidFill>
            </a:ln>
          </p:spPr>
        </p:sp>
        <p:sp>
          <p:nvSpPr>
            <p:cNvPr id="24" name="TextBox 24"/>
            <p:cNvSpPr txBox="1"/>
            <p:nvPr/>
          </p:nvSpPr>
          <p:spPr>
            <a:xfrm>
              <a:off x="527304" y="6442710"/>
              <a:ext cx="5531815"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来源：Cao et al., Introduction、§2.2 · DOI: 10.1002/adma.202414659</a:t>
              </a:r>
            </a:p>
          </p:txBody>
        </p:sp>
        <p:sp>
          <p:nvSpPr>
            <p:cNvPr id="25" name="TextBox 25"/>
            <p:cNvSpPr txBox="1"/>
            <p:nvPr/>
          </p:nvSpPr>
          <p:spPr>
            <a:xfrm>
              <a:off x="11111332" y="6442710"/>
              <a:ext cx="55336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02 / 12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8922" y="361950"/>
            <a:ext cx="6605298" cy="945071"/>
            <a:chOff x="518922" y="361950"/>
            <a:chExt cx="6605298" cy="945071"/>
          </a:xfrm>
        </p:grpSpPr>
        <p:sp>
          <p:nvSpPr>
            <p:cNvPr id="2" name="TextBox 2"/>
            <p:cNvSpPr txBox="1"/>
            <p:nvPr/>
          </p:nvSpPr>
          <p:spPr>
            <a:xfrm>
              <a:off x="525780" y="361950"/>
              <a:ext cx="1277302" cy="293370"/>
            </a:xfrm>
            <a:prstGeom prst="rect">
              <a:avLst/>
            </a:prstGeom>
            <a:noFill/>
            <a:ln>
              <a:noFill/>
            </a:ln>
          </p:spPr>
          <p:txBody>
            <a:bodyPr wrap="none" lIns="0" tIns="0" rIns="0" bIns="0" anchor="t" anchorCtr="0">
              <a:spAutoFit/>
            </a:bodyPr>
            <a:lstStyle/>
            <a:p>
              <a:pPr algn="l"/>
              <a:r>
                <a:rPr lang="zh-CN" sz="1500" dirty="0">
                  <a:solidFill>
                    <a:schemeClr val="accent2"/>
                  </a:solidFill>
                  <a:latin typeface="+mn-lt"/>
                  <a:ea typeface="+mn-ea"/>
                  <a:cs typeface="+mn-cs"/>
                </a:rPr>
                <a:t>02 / 设计逻辑</a:t>
              </a:r>
            </a:p>
          </p:txBody>
        </p:sp>
        <p:sp>
          <p:nvSpPr>
            <p:cNvPr id="3" name="TextBox 3"/>
            <p:cNvSpPr txBox="1"/>
            <p:nvPr/>
          </p:nvSpPr>
          <p:spPr>
            <a:xfrm>
              <a:off x="518922" y="749618"/>
              <a:ext cx="6605298"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用框架组织空间，用 N/O 调节配位</a:t>
              </a:r>
            </a:p>
          </p:txBody>
        </p:sp>
      </p:grpSp>
      <p:grpSp>
        <p:nvGrpSpPr>
          <p:cNvPr id="12" name="Group 12"/>
          <p:cNvGrpSpPr/>
          <p:nvPr/>
        </p:nvGrpSpPr>
        <p:grpSpPr>
          <a:xfrm>
            <a:off x="521970" y="1600200"/>
            <a:ext cx="5288280" cy="3074670"/>
            <a:chOff x="521970" y="1600200"/>
            <a:chExt cx="5288280" cy="3074670"/>
          </a:xfrm>
        </p:grpSpPr>
        <p:sp>
          <p:nvSpPr>
            <p:cNvPr id="5" name="Rectangle 5"/>
            <p:cNvSpPr/>
            <p:nvPr/>
          </p:nvSpPr>
          <p:spPr>
            <a:xfrm>
              <a:off x="533400" y="1600200"/>
              <a:ext cx="5276850" cy="76200"/>
            </a:xfrm>
            <a:prstGeom prst="rect">
              <a:avLst/>
            </a:prstGeom>
            <a:solidFill>
              <a:schemeClr val="accent1"/>
            </a:solidFill>
            <a:ln>
              <a:noFill/>
            </a:ln>
          </p:spPr>
        </p:sp>
        <p:sp>
          <p:nvSpPr>
            <p:cNvPr id="6" name="TextBox 6"/>
            <p:cNvSpPr txBox="1"/>
            <p:nvPr/>
          </p:nvSpPr>
          <p:spPr>
            <a:xfrm>
              <a:off x="521970" y="1909762"/>
              <a:ext cx="2614884"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策略一 · 刚柔调控</a:t>
              </a:r>
            </a:p>
          </p:txBody>
        </p:sp>
        <p:sp>
          <p:nvSpPr>
            <p:cNvPr id="7" name="TextBox 7"/>
            <p:cNvSpPr txBox="1"/>
            <p:nvPr/>
          </p:nvSpPr>
          <p:spPr>
            <a:xfrm>
              <a:off x="523494" y="2466022"/>
              <a:ext cx="3209544"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刚性 TFPT：规定拓扑方向</a:t>
              </a:r>
            </a:p>
          </p:txBody>
        </p:sp>
        <p:sp>
          <p:nvSpPr>
            <p:cNvPr id="8" name="TextBox 8"/>
            <p:cNvSpPr txBox="1"/>
            <p:nvPr/>
          </p:nvSpPr>
          <p:spPr>
            <a:xfrm>
              <a:off x="523494" y="2942272"/>
              <a:ext cx="3957447"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柔性酰腙链：通过键旋转适应组装</a:t>
              </a:r>
            </a:p>
          </p:txBody>
        </p:sp>
        <p:sp>
          <p:nvSpPr>
            <p:cNvPr id="9" name="Line 9"/>
            <p:cNvSpPr/>
            <p:nvPr/>
          </p:nvSpPr>
          <p:spPr>
            <a:xfrm>
              <a:off x="533400" y="3571875"/>
              <a:ext cx="5276850" cy="9525"/>
            </a:xfrm>
            <a:custGeom>
              <a:avLst/>
              <a:gdLst/>
              <a:ahLst/>
              <a:cxnLst/>
              <a:rect l="l" t="t" r="r" b="b"/>
              <a:pathLst>
                <a:path w="5276850" h="9525">
                  <a:moveTo>
                    <a:pt x="0" y="0"/>
                  </a:moveTo>
                  <a:lnTo>
                    <a:pt x="5276850" y="0"/>
                  </a:lnTo>
                </a:path>
              </a:pathLst>
            </a:custGeom>
            <a:noFill/>
            <a:ln w="19050">
              <a:solidFill>
                <a:srgbClr val="CEDBE1"/>
              </a:solidFill>
            </a:ln>
          </p:spPr>
        </p:sp>
        <p:sp>
          <p:nvSpPr>
            <p:cNvPr id="10" name="TextBox 10"/>
            <p:cNvSpPr txBox="1"/>
            <p:nvPr/>
          </p:nvSpPr>
          <p:spPr>
            <a:xfrm>
              <a:off x="522732" y="3859530"/>
              <a:ext cx="4177055"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形成有序孔道与合适的配位空间</a:t>
              </a:r>
            </a:p>
          </p:txBody>
        </p:sp>
        <p:sp>
          <p:nvSpPr>
            <p:cNvPr id="11" name="TextBox 11"/>
            <p:cNvSpPr txBox="1"/>
            <p:nvPr/>
          </p:nvSpPr>
          <p:spPr>
            <a:xfrm>
              <a:off x="525780" y="4381500"/>
              <a:ext cx="2256663"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解决“怎样有序地装进去”</a:t>
              </a:r>
            </a:p>
          </p:txBody>
        </p:sp>
      </p:grpSp>
      <p:grpSp>
        <p:nvGrpSpPr>
          <p:cNvPr id="20" name="Group 20"/>
          <p:cNvGrpSpPr/>
          <p:nvPr/>
        </p:nvGrpSpPr>
        <p:grpSpPr>
          <a:xfrm>
            <a:off x="6370320" y="1600200"/>
            <a:ext cx="5288280" cy="3074670"/>
            <a:chOff x="6370320" y="1600200"/>
            <a:chExt cx="5288280" cy="3074670"/>
          </a:xfrm>
        </p:grpSpPr>
        <p:sp>
          <p:nvSpPr>
            <p:cNvPr id="13" name="Rectangle 13"/>
            <p:cNvSpPr/>
            <p:nvPr/>
          </p:nvSpPr>
          <p:spPr>
            <a:xfrm>
              <a:off x="6381750" y="1600200"/>
              <a:ext cx="5276850" cy="76200"/>
            </a:xfrm>
            <a:prstGeom prst="rect">
              <a:avLst/>
            </a:prstGeom>
            <a:solidFill>
              <a:schemeClr val="accent2"/>
            </a:solidFill>
            <a:ln>
              <a:noFill/>
            </a:ln>
          </p:spPr>
        </p:sp>
        <p:sp>
          <p:nvSpPr>
            <p:cNvPr id="14" name="TextBox 14"/>
            <p:cNvSpPr txBox="1"/>
            <p:nvPr/>
          </p:nvSpPr>
          <p:spPr>
            <a:xfrm>
              <a:off x="6370320" y="1909762"/>
              <a:ext cx="3250963"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策略二 · 硬软供体组合</a:t>
              </a:r>
            </a:p>
          </p:txBody>
        </p:sp>
        <p:sp>
          <p:nvSpPr>
            <p:cNvPr id="15" name="TextBox 15"/>
            <p:cNvSpPr txBox="1"/>
            <p:nvPr/>
          </p:nvSpPr>
          <p:spPr>
            <a:xfrm>
              <a:off x="6371844" y="2466022"/>
              <a:ext cx="3306623"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邻菲罗啉 N：相对软的供体</a:t>
              </a:r>
            </a:p>
          </p:txBody>
        </p:sp>
        <p:sp>
          <p:nvSpPr>
            <p:cNvPr id="16" name="TextBox 16"/>
            <p:cNvSpPr txBox="1"/>
            <p:nvPr/>
          </p:nvSpPr>
          <p:spPr>
            <a:xfrm>
              <a:off x="6371844" y="2942272"/>
              <a:ext cx="1975256"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羰基 O：硬供体</a:t>
              </a:r>
            </a:p>
          </p:txBody>
        </p:sp>
        <p:sp>
          <p:nvSpPr>
            <p:cNvPr id="17" name="Line 17"/>
            <p:cNvSpPr/>
            <p:nvPr/>
          </p:nvSpPr>
          <p:spPr>
            <a:xfrm>
              <a:off x="6381750" y="3571875"/>
              <a:ext cx="5276850" cy="9525"/>
            </a:xfrm>
            <a:custGeom>
              <a:avLst/>
              <a:gdLst/>
              <a:ahLst/>
              <a:cxnLst/>
              <a:rect l="l" t="t" r="r" b="b"/>
              <a:pathLst>
                <a:path w="5276850" h="9525">
                  <a:moveTo>
                    <a:pt x="0" y="0"/>
                  </a:moveTo>
                  <a:lnTo>
                    <a:pt x="5276850" y="0"/>
                  </a:lnTo>
                </a:path>
              </a:pathLst>
            </a:custGeom>
            <a:noFill/>
            <a:ln w="19050">
              <a:solidFill>
                <a:srgbClr val="CEDBE1"/>
              </a:solidFill>
            </a:ln>
          </p:spPr>
        </p:sp>
        <p:sp>
          <p:nvSpPr>
            <p:cNvPr id="18" name="TextBox 18"/>
            <p:cNvSpPr txBox="1"/>
            <p:nvPr/>
          </p:nvSpPr>
          <p:spPr>
            <a:xfrm>
              <a:off x="6371082" y="3859530"/>
              <a:ext cx="3286544"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兼顾金属识别与结合强度</a:t>
              </a:r>
            </a:p>
          </p:txBody>
        </p:sp>
        <p:sp>
          <p:nvSpPr>
            <p:cNvPr id="19" name="TextBox 19"/>
            <p:cNvSpPr txBox="1"/>
            <p:nvPr/>
          </p:nvSpPr>
          <p:spPr>
            <a:xfrm>
              <a:off x="6374130" y="4381500"/>
              <a:ext cx="2862453"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解决“装进去之后，优先抓住谁”</a:t>
              </a:r>
            </a:p>
          </p:txBody>
        </p:sp>
      </p:grpSp>
      <p:grpSp>
        <p:nvGrpSpPr>
          <p:cNvPr id="24" name="Group 24"/>
          <p:cNvGrpSpPr/>
          <p:nvPr/>
        </p:nvGrpSpPr>
        <p:grpSpPr>
          <a:xfrm>
            <a:off x="533400" y="5181600"/>
            <a:ext cx="11125200" cy="781050"/>
            <a:chOff x="533400" y="5181600"/>
            <a:chExt cx="11125200" cy="781050"/>
          </a:xfrm>
        </p:grpSpPr>
        <p:sp>
          <p:nvSpPr>
            <p:cNvPr id="21" name="Rectangle 21"/>
            <p:cNvSpPr/>
            <p:nvPr/>
          </p:nvSpPr>
          <p:spPr>
            <a:xfrm>
              <a:off x="533400" y="5181600"/>
              <a:ext cx="11125200" cy="781050"/>
            </a:xfrm>
            <a:prstGeom prst="rect">
              <a:avLst/>
            </a:prstGeom>
            <a:solidFill>
              <a:schemeClr val="accent5"/>
            </a:solidFill>
            <a:ln>
              <a:noFill/>
            </a:ln>
          </p:spPr>
        </p:sp>
        <p:sp>
          <p:nvSpPr>
            <p:cNvPr id="22" name="TextBox 22"/>
            <p:cNvSpPr txBox="1"/>
            <p:nvPr/>
          </p:nvSpPr>
          <p:spPr>
            <a:xfrm>
              <a:off x="770382" y="5288280"/>
              <a:ext cx="643525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选择性取决于 N/O 化学与空间匹配的共同作用</a:t>
              </a:r>
            </a:p>
          </p:txBody>
        </p:sp>
        <p:sp>
          <p:nvSpPr>
            <p:cNvPr id="23" name="TextBox 23"/>
            <p:cNvSpPr txBox="1"/>
            <p:nvPr/>
          </p:nvSpPr>
          <p:spPr>
            <a:xfrm>
              <a:off x="773430" y="5657850"/>
              <a:ext cx="5063490"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硬软酸碱理论提供方向，但不能单独解释全部分离结果。</a:t>
              </a:r>
            </a:p>
          </p:txBody>
        </p:sp>
      </p:grpSp>
      <p:grpSp>
        <p:nvGrpSpPr>
          <p:cNvPr id="28" name="Group 28"/>
          <p:cNvGrpSpPr/>
          <p:nvPr/>
        </p:nvGrpSpPr>
        <p:grpSpPr>
          <a:xfrm>
            <a:off x="527304" y="6305550"/>
            <a:ext cx="11137392" cy="371856"/>
            <a:chOff x="527304" y="6305550"/>
            <a:chExt cx="11137392" cy="371856"/>
          </a:xfrm>
        </p:grpSpPr>
        <p:sp>
          <p:nvSpPr>
            <p:cNvPr id="25" name="Line 25"/>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rgbClr val="CEDBE1"/>
              </a:solidFill>
            </a:ln>
          </p:spPr>
        </p:sp>
        <p:sp>
          <p:nvSpPr>
            <p:cNvPr id="26" name="TextBox 26"/>
            <p:cNvSpPr txBox="1"/>
            <p:nvPr/>
          </p:nvSpPr>
          <p:spPr>
            <a:xfrm>
              <a:off x="527304" y="6442710"/>
              <a:ext cx="4800219"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来源：Introduction、§2.1–2.2；此页为依据论文重绘的概念解释</a:t>
              </a:r>
            </a:p>
          </p:txBody>
        </p:sp>
        <p:sp>
          <p:nvSpPr>
            <p:cNvPr id="27" name="TextBox 27"/>
            <p:cNvSpPr txBox="1"/>
            <p:nvPr/>
          </p:nvSpPr>
          <p:spPr>
            <a:xfrm>
              <a:off x="11111332" y="6442710"/>
              <a:ext cx="55336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03 / 12</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8922" y="361950"/>
            <a:ext cx="8024015" cy="945071"/>
            <a:chOff x="518922" y="361950"/>
            <a:chExt cx="8024015" cy="945071"/>
          </a:xfrm>
        </p:grpSpPr>
        <p:sp>
          <p:nvSpPr>
            <p:cNvPr id="2" name="TextBox 2"/>
            <p:cNvSpPr txBox="1"/>
            <p:nvPr/>
          </p:nvSpPr>
          <p:spPr>
            <a:xfrm>
              <a:off x="525780" y="361950"/>
              <a:ext cx="1479232" cy="293370"/>
            </a:xfrm>
            <a:prstGeom prst="rect">
              <a:avLst/>
            </a:prstGeom>
            <a:noFill/>
            <a:ln>
              <a:noFill/>
            </a:ln>
          </p:spPr>
          <p:txBody>
            <a:bodyPr wrap="none" lIns="0" tIns="0" rIns="0" bIns="0" anchor="t" anchorCtr="0">
              <a:spAutoFit/>
            </a:bodyPr>
            <a:lstStyle/>
            <a:p>
              <a:pPr algn="l"/>
              <a:r>
                <a:rPr lang="zh-CN" sz="1500" dirty="0">
                  <a:solidFill>
                    <a:schemeClr val="accent2"/>
                  </a:solidFill>
                  <a:latin typeface="+mn-lt"/>
                  <a:ea typeface="+mn-ea"/>
                  <a:cs typeface="+mn-cs"/>
                </a:rPr>
                <a:t>03 / 单体与对照</a:t>
              </a:r>
            </a:p>
          </p:txBody>
        </p:sp>
        <p:sp>
          <p:nvSpPr>
            <p:cNvPr id="3" name="TextBox 3"/>
            <p:cNvSpPr txBox="1"/>
            <p:nvPr/>
          </p:nvSpPr>
          <p:spPr>
            <a:xfrm>
              <a:off x="518922" y="749618"/>
              <a:ext cx="8024015"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DAPhen 与 Py 的差异，同时改变位点与几何</a:t>
              </a:r>
            </a:p>
          </p:txBody>
        </p:sp>
      </p:grpSp>
      <p:grpSp>
        <p:nvGrpSpPr>
          <p:cNvPr id="7" name="Group 7"/>
          <p:cNvGrpSpPr/>
          <p:nvPr/>
        </p:nvGrpSpPr>
        <p:grpSpPr>
          <a:xfrm>
            <a:off x="527304" y="1390650"/>
            <a:ext cx="6483096" cy="4810506"/>
            <a:chOff x="527304" y="1390650"/>
            <a:chExt cx="6483096" cy="4810506"/>
          </a:xfrm>
        </p:grpSpPr>
        <p:pic>
          <p:nvPicPr>
            <p:cNvPr id="5" name="Image 5"/>
            <p:cNvPicPr>
              <a:picLocks noChangeAspect="1"/>
            </p:cNvPicPr>
            <p:nvPr/>
          </p:nvPicPr>
          <p:blipFill>
            <a:blip r:embed="rId2"/>
            <a:stretch>
              <a:fillRect/>
            </a:stretch>
          </p:blipFill>
          <p:spPr>
            <a:xfrm>
              <a:off x="533400" y="1390650"/>
              <a:ext cx="6477000" cy="4552950"/>
            </a:xfrm>
            <a:prstGeom prst="rect">
              <a:avLst/>
            </a:prstGeom>
          </p:spPr>
        </p:pic>
        <p:sp>
          <p:nvSpPr>
            <p:cNvPr id="6" name="TextBox 6"/>
            <p:cNvSpPr txBox="1"/>
            <p:nvPr/>
          </p:nvSpPr>
          <p:spPr>
            <a:xfrm>
              <a:off x="527304" y="5966460"/>
              <a:ext cx="267835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原文 Figure 1 · 完整合成与构象示意</a:t>
              </a:r>
            </a:p>
          </p:txBody>
        </p:sp>
      </p:grpSp>
      <p:grpSp>
        <p:nvGrpSpPr>
          <p:cNvPr id="18" name="Group 18"/>
          <p:cNvGrpSpPr/>
          <p:nvPr/>
        </p:nvGrpSpPr>
        <p:grpSpPr>
          <a:xfrm>
            <a:off x="7456932" y="1630680"/>
            <a:ext cx="4201668" cy="4406265"/>
            <a:chOff x="7456932" y="1630680"/>
            <a:chExt cx="4201668" cy="4406265"/>
          </a:xfrm>
        </p:grpSpPr>
        <p:sp>
          <p:nvSpPr>
            <p:cNvPr id="8" name="TextBox 8"/>
            <p:cNvSpPr txBox="1"/>
            <p:nvPr/>
          </p:nvSpPr>
          <p:spPr>
            <a:xfrm>
              <a:off x="7456932" y="1630680"/>
              <a:ext cx="120868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共同反应</a:t>
              </a:r>
            </a:p>
          </p:txBody>
        </p:sp>
        <p:sp>
          <p:nvSpPr>
            <p:cNvPr id="9" name="TextBox 9"/>
            <p:cNvSpPr txBox="1"/>
            <p:nvPr/>
          </p:nvSpPr>
          <p:spPr>
            <a:xfrm>
              <a:off x="7457694" y="2065972"/>
              <a:ext cx="2890571"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反应物：TFPT + 二酰肼</a:t>
              </a:r>
            </a:p>
          </p:txBody>
        </p:sp>
        <p:sp>
          <p:nvSpPr>
            <p:cNvPr id="10" name="TextBox 10"/>
            <p:cNvSpPr txBox="1"/>
            <p:nvPr/>
          </p:nvSpPr>
          <p:spPr>
            <a:xfrm>
              <a:off x="7457694" y="2523172"/>
              <a:ext cx="1594866"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连接键：酰腙</a:t>
              </a:r>
            </a:p>
          </p:txBody>
        </p:sp>
        <p:sp>
          <p:nvSpPr>
            <p:cNvPr id="11" name="TextBox 11"/>
            <p:cNvSpPr txBox="1"/>
            <p:nvPr/>
          </p:nvSpPr>
          <p:spPr>
            <a:xfrm>
              <a:off x="7456932" y="3040380"/>
              <a:ext cx="3484089"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DAPhen · 邻菲罗啉单体 D</a:t>
              </a:r>
            </a:p>
          </p:txBody>
        </p:sp>
        <p:sp>
          <p:nvSpPr>
            <p:cNvPr id="12" name="TextBox 12"/>
            <p:cNvSpPr txBox="1"/>
            <p:nvPr/>
          </p:nvSpPr>
          <p:spPr>
            <a:xfrm>
              <a:off x="7457694" y="3485198"/>
              <a:ext cx="3419304"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初始夹角 60°，以扭转适配。</a:t>
              </a:r>
            </a:p>
          </p:txBody>
        </p:sp>
        <p:sp>
          <p:nvSpPr>
            <p:cNvPr id="13" name="TextBox 13"/>
            <p:cNvSpPr txBox="1"/>
            <p:nvPr/>
          </p:nvSpPr>
          <p:spPr>
            <a:xfrm>
              <a:off x="7456932" y="4173855"/>
              <a:ext cx="2208409" cy="410718"/>
            </a:xfrm>
            <a:prstGeom prst="rect">
              <a:avLst/>
            </a:prstGeom>
            <a:noFill/>
            <a:ln>
              <a:noFill/>
            </a:ln>
          </p:spPr>
          <p:txBody>
            <a:bodyPr wrap="none" lIns="0" tIns="0" rIns="0" bIns="0" anchor="t" anchorCtr="0">
              <a:spAutoFit/>
            </a:bodyPr>
            <a:lstStyle/>
            <a:p>
              <a:pPr algn="l"/>
              <a:r>
                <a:rPr lang="zh-CN" sz="2100" b="1" dirty="0">
                  <a:solidFill>
                    <a:schemeClr val="accent3"/>
                  </a:solidFill>
                  <a:latin typeface="+mn-lt"/>
                  <a:ea typeface="+mn-ea"/>
                  <a:cs typeface="+mn-cs"/>
                </a:rPr>
                <a:t>Py · 吡啶单体 P</a:t>
              </a:r>
            </a:p>
          </p:txBody>
        </p:sp>
        <p:sp>
          <p:nvSpPr>
            <p:cNvPr id="14" name="TextBox 14"/>
            <p:cNvSpPr txBox="1"/>
            <p:nvPr/>
          </p:nvSpPr>
          <p:spPr>
            <a:xfrm>
              <a:off x="7457694" y="4618672"/>
              <a:ext cx="3563684"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初始夹角 120°，更倾向伸展。</a:t>
              </a:r>
            </a:p>
          </p:txBody>
        </p:sp>
        <p:sp>
          <p:nvSpPr>
            <p:cNvPr id="15" name="Line 15"/>
            <p:cNvSpPr/>
            <p:nvPr/>
          </p:nvSpPr>
          <p:spPr>
            <a:xfrm>
              <a:off x="7467600" y="5219700"/>
              <a:ext cx="4191000" cy="9525"/>
            </a:xfrm>
            <a:custGeom>
              <a:avLst/>
              <a:gdLst/>
              <a:ahLst/>
              <a:cxnLst/>
              <a:rect l="l" t="t" r="r" b="b"/>
              <a:pathLst>
                <a:path w="4191000" h="9525">
                  <a:moveTo>
                    <a:pt x="0" y="0"/>
                  </a:moveTo>
                  <a:lnTo>
                    <a:pt x="4191000" y="0"/>
                  </a:lnTo>
                </a:path>
              </a:pathLst>
            </a:custGeom>
            <a:noFill/>
            <a:ln w="19050">
              <a:solidFill>
                <a:srgbClr val="CEDBE1"/>
              </a:solidFill>
            </a:ln>
          </p:spPr>
        </p:sp>
        <p:sp>
          <p:nvSpPr>
            <p:cNvPr id="16" name="TextBox 16"/>
            <p:cNvSpPr txBox="1"/>
            <p:nvPr/>
          </p:nvSpPr>
          <p:spPr>
            <a:xfrm>
              <a:off x="7459980" y="5429250"/>
              <a:ext cx="3044190"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对照变量：供体数、刚性、构象。</a:t>
              </a:r>
            </a:p>
          </p:txBody>
        </p:sp>
        <p:sp>
          <p:nvSpPr>
            <p:cNvPr id="17" name="TextBox 17"/>
            <p:cNvSpPr txBox="1"/>
            <p:nvPr/>
          </p:nvSpPr>
          <p:spPr>
            <a:xfrm>
              <a:off x="7459980" y="5743575"/>
              <a:ext cx="3246120"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结论边界：不宜只归因于氮的数量。</a:t>
              </a:r>
            </a:p>
          </p:txBody>
        </p:sp>
      </p:grpSp>
      <p:grpSp>
        <p:nvGrpSpPr>
          <p:cNvPr id="22" name="Group 22"/>
          <p:cNvGrpSpPr/>
          <p:nvPr/>
        </p:nvGrpSpPr>
        <p:grpSpPr>
          <a:xfrm>
            <a:off x="527304" y="6305550"/>
            <a:ext cx="11137392" cy="371856"/>
            <a:chOff x="527304" y="6305550"/>
            <a:chExt cx="11137392" cy="371856"/>
          </a:xfrm>
        </p:grpSpPr>
        <p:sp>
          <p:nvSpPr>
            <p:cNvPr id="19" name="Line 19"/>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rgbClr val="CEDBE1"/>
              </a:solidFill>
            </a:ln>
          </p:spPr>
        </p:sp>
        <p:sp>
          <p:nvSpPr>
            <p:cNvPr id="20" name="TextBox 20"/>
            <p:cNvSpPr txBox="1"/>
            <p:nvPr/>
          </p:nvSpPr>
          <p:spPr>
            <a:xfrm>
              <a:off x="527304" y="6442710"/>
              <a:ext cx="4162273"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来源：Figure 1、§2.1–2.2 · 图片版权归原作者与出版方</a:t>
              </a:r>
            </a:p>
          </p:txBody>
        </p:sp>
        <p:sp>
          <p:nvSpPr>
            <p:cNvPr id="21" name="TextBox 21"/>
            <p:cNvSpPr txBox="1"/>
            <p:nvPr/>
          </p:nvSpPr>
          <p:spPr>
            <a:xfrm>
              <a:off x="11111332" y="6442710"/>
              <a:ext cx="55336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04 / 12</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8922" y="361950"/>
            <a:ext cx="6877412" cy="945071"/>
            <a:chOff x="518922" y="361950"/>
            <a:chExt cx="6877412" cy="945071"/>
          </a:xfrm>
        </p:grpSpPr>
        <p:sp>
          <p:nvSpPr>
            <p:cNvPr id="2" name="TextBox 2"/>
            <p:cNvSpPr txBox="1"/>
            <p:nvPr/>
          </p:nvSpPr>
          <p:spPr>
            <a:xfrm>
              <a:off x="525780" y="361950"/>
              <a:ext cx="1277302" cy="293370"/>
            </a:xfrm>
            <a:prstGeom prst="rect">
              <a:avLst/>
            </a:prstGeom>
            <a:noFill/>
            <a:ln>
              <a:noFill/>
            </a:ln>
          </p:spPr>
          <p:txBody>
            <a:bodyPr wrap="none" lIns="0" tIns="0" rIns="0" bIns="0" anchor="t" anchorCtr="0">
              <a:spAutoFit/>
            </a:bodyPr>
            <a:lstStyle/>
            <a:p>
              <a:pPr algn="l"/>
              <a:r>
                <a:rPr lang="zh-CN" sz="1500" dirty="0">
                  <a:solidFill>
                    <a:schemeClr val="accent2"/>
                  </a:solidFill>
                  <a:latin typeface="+mn-lt"/>
                  <a:ea typeface="+mn-ea"/>
                  <a:cs typeface="+mn-cs"/>
                </a:rPr>
                <a:t>04 / 结构证据</a:t>
              </a:r>
            </a:p>
          </p:txBody>
        </p:sp>
        <p:sp>
          <p:nvSpPr>
            <p:cNvPr id="3" name="TextBox 3"/>
            <p:cNvSpPr txBox="1"/>
            <p:nvPr/>
          </p:nvSpPr>
          <p:spPr>
            <a:xfrm>
              <a:off x="518922" y="749618"/>
              <a:ext cx="6877412"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有序层状框架，提供可接近的配位空间</a:t>
              </a:r>
            </a:p>
          </p:txBody>
        </p:sp>
      </p:grpSp>
      <p:grpSp>
        <p:nvGrpSpPr>
          <p:cNvPr id="6" name="Group 6"/>
          <p:cNvGrpSpPr/>
          <p:nvPr/>
        </p:nvGrpSpPr>
        <p:grpSpPr>
          <a:xfrm>
            <a:off x="533400" y="1428750"/>
            <a:ext cx="11125200" cy="3348418"/>
            <a:chOff x="533400" y="1428750"/>
            <a:chExt cx="11125200" cy="3348418"/>
          </a:xfrm>
        </p:grpSpPr>
        <p:pic>
          <p:nvPicPr>
            <p:cNvPr id="5" name="Image 5"/>
            <p:cNvPicPr>
              <a:picLocks noChangeAspect="1"/>
            </p:cNvPicPr>
            <p:nvPr/>
          </p:nvPicPr>
          <p:blipFill>
            <a:blip r:embed="rId2"/>
            <a:stretch>
              <a:fillRect/>
            </a:stretch>
          </p:blipFill>
          <p:spPr>
            <a:xfrm>
              <a:off x="533400" y="1428750"/>
              <a:ext cx="11125200" cy="3348418"/>
            </a:xfrm>
            <a:prstGeom prst="rect">
              <a:avLst/>
            </a:prstGeom>
          </p:spPr>
        </p:pic>
      </p:grpSp>
      <p:grpSp>
        <p:nvGrpSpPr>
          <p:cNvPr id="11" name="Group 11"/>
          <p:cNvGrpSpPr/>
          <p:nvPr/>
        </p:nvGrpSpPr>
        <p:grpSpPr>
          <a:xfrm>
            <a:off x="516636" y="5000625"/>
            <a:ext cx="2519134" cy="946404"/>
            <a:chOff x="516636" y="5000625"/>
            <a:chExt cx="2519134" cy="946404"/>
          </a:xfrm>
        </p:grpSpPr>
        <p:sp>
          <p:nvSpPr>
            <p:cNvPr id="7" name="TextBox 7"/>
            <p:cNvSpPr txBox="1"/>
            <p:nvPr/>
          </p:nvSpPr>
          <p:spPr>
            <a:xfrm>
              <a:off x="525780" y="5000625"/>
              <a:ext cx="2228393"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BET 比表面积 / m²·g⁻¹</a:t>
              </a:r>
            </a:p>
          </p:txBody>
        </p:sp>
        <p:sp>
          <p:nvSpPr>
            <p:cNvPr id="8" name="TextBox 8"/>
            <p:cNvSpPr txBox="1"/>
            <p:nvPr/>
          </p:nvSpPr>
          <p:spPr>
            <a:xfrm>
              <a:off x="516636" y="5301615"/>
              <a:ext cx="1059736" cy="645414"/>
            </a:xfrm>
            <a:prstGeom prst="rect">
              <a:avLst/>
            </a:prstGeom>
            <a:noFill/>
            <a:ln>
              <a:noFill/>
            </a:ln>
          </p:spPr>
          <p:txBody>
            <a:bodyPr wrap="none" lIns="0" tIns="0" rIns="0" bIns="0" anchor="t" anchorCtr="0">
              <a:spAutoFit/>
            </a:bodyPr>
            <a:lstStyle/>
            <a:p>
              <a:pPr algn="l"/>
              <a:r>
                <a:rPr lang="zh-CN" sz="3300" b="1" dirty="0">
                  <a:solidFill>
                    <a:schemeClr val="accent2"/>
                  </a:solidFill>
                  <a:latin typeface="+mn-lt"/>
                  <a:ea typeface="+mn-ea"/>
                  <a:cs typeface="+mn-cs"/>
                </a:rPr>
                <a:t>1672</a:t>
              </a:r>
            </a:p>
          </p:txBody>
        </p:sp>
        <p:sp>
          <p:nvSpPr>
            <p:cNvPr id="9" name="TextBox 9"/>
            <p:cNvSpPr txBox="1"/>
            <p:nvPr/>
          </p:nvSpPr>
          <p:spPr>
            <a:xfrm>
              <a:off x="1799844" y="5447348"/>
              <a:ext cx="30857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vs</a:t>
              </a:r>
            </a:p>
          </p:txBody>
        </p:sp>
        <p:sp>
          <p:nvSpPr>
            <p:cNvPr id="10" name="TextBox 10"/>
            <p:cNvSpPr txBox="1"/>
            <p:nvPr/>
          </p:nvSpPr>
          <p:spPr>
            <a:xfrm>
              <a:off x="2269236" y="5301615"/>
              <a:ext cx="766534" cy="645414"/>
            </a:xfrm>
            <a:prstGeom prst="rect">
              <a:avLst/>
            </a:prstGeom>
            <a:noFill/>
            <a:ln>
              <a:noFill/>
            </a:ln>
          </p:spPr>
          <p:txBody>
            <a:bodyPr wrap="none" lIns="0" tIns="0" rIns="0" bIns="0" anchor="t" anchorCtr="0">
              <a:spAutoFit/>
            </a:bodyPr>
            <a:lstStyle/>
            <a:p>
              <a:pPr algn="l"/>
              <a:r>
                <a:rPr lang="zh-CN" sz="3300" dirty="0">
                  <a:solidFill>
                    <a:schemeClr val="accent3"/>
                  </a:solidFill>
                  <a:latin typeface="+mn-lt"/>
                  <a:ea typeface="+mn-ea"/>
                  <a:cs typeface="+mn-cs"/>
                </a:rPr>
                <a:t>798</a:t>
              </a:r>
            </a:p>
          </p:txBody>
        </p:sp>
      </p:grpSp>
      <p:grpSp>
        <p:nvGrpSpPr>
          <p:cNvPr id="15" name="Group 15"/>
          <p:cNvGrpSpPr/>
          <p:nvPr/>
        </p:nvGrpSpPr>
        <p:grpSpPr>
          <a:xfrm>
            <a:off x="4427220" y="5000625"/>
            <a:ext cx="1787981" cy="971931"/>
            <a:chOff x="4427220" y="5000625"/>
            <a:chExt cx="1787981" cy="971931"/>
          </a:xfrm>
        </p:grpSpPr>
        <p:sp>
          <p:nvSpPr>
            <p:cNvPr id="12" name="TextBox 12"/>
            <p:cNvSpPr txBox="1"/>
            <p:nvPr/>
          </p:nvSpPr>
          <p:spPr>
            <a:xfrm>
              <a:off x="4431030" y="5000625"/>
              <a:ext cx="1317688"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平均孔径 / nm</a:t>
              </a:r>
            </a:p>
          </p:txBody>
        </p:sp>
        <p:sp>
          <p:nvSpPr>
            <p:cNvPr id="13" name="TextBox 13"/>
            <p:cNvSpPr txBox="1"/>
            <p:nvPr/>
          </p:nvSpPr>
          <p:spPr>
            <a:xfrm>
              <a:off x="4427220" y="5386388"/>
              <a:ext cx="1787981"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1.60 / 1.63</a:t>
              </a:r>
            </a:p>
          </p:txBody>
        </p:sp>
        <p:sp>
          <p:nvSpPr>
            <p:cNvPr id="14" name="TextBox 14"/>
            <p:cNvSpPr txBox="1"/>
            <p:nvPr/>
          </p:nvSpPr>
          <p:spPr>
            <a:xfrm>
              <a:off x="4432554" y="5737860"/>
              <a:ext cx="934136"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DAPhen / Py</a:t>
              </a:r>
            </a:p>
          </p:txBody>
        </p:sp>
      </p:grpSp>
      <p:grpSp>
        <p:nvGrpSpPr>
          <p:cNvPr id="19" name="Group 19"/>
          <p:cNvGrpSpPr/>
          <p:nvPr/>
        </p:nvGrpSpPr>
        <p:grpSpPr>
          <a:xfrm>
            <a:off x="8237220" y="5000625"/>
            <a:ext cx="2108454" cy="971931"/>
            <a:chOff x="8237220" y="5000625"/>
            <a:chExt cx="2108454" cy="971931"/>
          </a:xfrm>
        </p:grpSpPr>
        <p:sp>
          <p:nvSpPr>
            <p:cNvPr id="16" name="TextBox 16"/>
            <p:cNvSpPr txBox="1"/>
            <p:nvPr/>
          </p:nvSpPr>
          <p:spPr>
            <a:xfrm>
              <a:off x="8241030" y="5000625"/>
              <a:ext cx="2060543"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干态模型 c 轴参数 / Å</a:t>
              </a:r>
            </a:p>
          </p:txBody>
        </p:sp>
        <p:sp>
          <p:nvSpPr>
            <p:cNvPr id="17" name="TextBox 17"/>
            <p:cNvSpPr txBox="1"/>
            <p:nvPr/>
          </p:nvSpPr>
          <p:spPr>
            <a:xfrm>
              <a:off x="8237220" y="5386388"/>
              <a:ext cx="1962902"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6.69 / 14.80</a:t>
              </a:r>
            </a:p>
          </p:txBody>
        </p:sp>
        <p:sp>
          <p:nvSpPr>
            <p:cNvPr id="18" name="TextBox 18"/>
            <p:cNvSpPr txBox="1"/>
            <p:nvPr/>
          </p:nvSpPr>
          <p:spPr>
            <a:xfrm>
              <a:off x="8242554" y="5737860"/>
              <a:ext cx="2103120"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两者最优拟合均为 ABC 堆积</a:t>
              </a:r>
            </a:p>
          </p:txBody>
        </p:sp>
      </p:grpSp>
      <p:grpSp>
        <p:nvGrpSpPr>
          <p:cNvPr id="21" name="Group 21"/>
          <p:cNvGrpSpPr/>
          <p:nvPr/>
        </p:nvGrpSpPr>
        <p:grpSpPr>
          <a:xfrm>
            <a:off x="527304" y="6023610"/>
            <a:ext cx="8338765" cy="234696"/>
            <a:chOff x="527304" y="6023610"/>
            <a:chExt cx="8338765" cy="234696"/>
          </a:xfrm>
        </p:grpSpPr>
        <p:sp>
          <p:nvSpPr>
            <p:cNvPr id="20" name="TextBox 20"/>
            <p:cNvSpPr txBox="1"/>
            <p:nvPr/>
          </p:nvSpPr>
          <p:spPr>
            <a:xfrm>
              <a:off x="527304" y="6023610"/>
              <a:ext cx="8338765"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PXRD 支持结晶；5 M HNO₃ 浸泡 24 h 后晶型总体保持；100–800 kGy 范围结构稳定。c 轴不直接等同相邻层距。</a:t>
              </a:r>
            </a:p>
          </p:txBody>
        </p:sp>
      </p:grpSp>
      <p:grpSp>
        <p:nvGrpSpPr>
          <p:cNvPr id="25" name="Group 25"/>
          <p:cNvGrpSpPr/>
          <p:nvPr/>
        </p:nvGrpSpPr>
        <p:grpSpPr>
          <a:xfrm>
            <a:off x="527304" y="6305550"/>
            <a:ext cx="11137392" cy="371856"/>
            <a:chOff x="527304" y="6305550"/>
            <a:chExt cx="11137392" cy="371856"/>
          </a:xfrm>
        </p:grpSpPr>
        <p:sp>
          <p:nvSpPr>
            <p:cNvPr id="22" name="Line 22"/>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rgbClr val="CEDBE1"/>
              </a:solidFill>
            </a:ln>
          </p:spPr>
        </p:sp>
        <p:sp>
          <p:nvSpPr>
            <p:cNvPr id="23" name="TextBox 23"/>
            <p:cNvSpPr txBox="1"/>
            <p:nvPr/>
          </p:nvSpPr>
          <p:spPr>
            <a:xfrm>
              <a:off x="527304" y="6442710"/>
              <a:ext cx="5701792"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来源：Figure 3、§2.1；稳定性由正文对 Supporting Information 的报告整理</a:t>
              </a:r>
            </a:p>
          </p:txBody>
        </p:sp>
        <p:sp>
          <p:nvSpPr>
            <p:cNvPr id="24" name="TextBox 24"/>
            <p:cNvSpPr txBox="1"/>
            <p:nvPr/>
          </p:nvSpPr>
          <p:spPr>
            <a:xfrm>
              <a:off x="11111332" y="6442710"/>
              <a:ext cx="55336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05 / 12</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8922" y="361950"/>
            <a:ext cx="6474562" cy="945071"/>
            <a:chOff x="518922" y="361950"/>
            <a:chExt cx="6474562" cy="945071"/>
          </a:xfrm>
        </p:grpSpPr>
        <p:sp>
          <p:nvSpPr>
            <p:cNvPr id="2" name="TextBox 2"/>
            <p:cNvSpPr txBox="1"/>
            <p:nvPr/>
          </p:nvSpPr>
          <p:spPr>
            <a:xfrm>
              <a:off x="525780" y="361950"/>
              <a:ext cx="1277302" cy="293370"/>
            </a:xfrm>
            <a:prstGeom prst="rect">
              <a:avLst/>
            </a:prstGeom>
            <a:noFill/>
            <a:ln>
              <a:noFill/>
            </a:ln>
          </p:spPr>
          <p:txBody>
            <a:bodyPr wrap="none" lIns="0" tIns="0" rIns="0" bIns="0" anchor="t" anchorCtr="0">
              <a:spAutoFit/>
            </a:bodyPr>
            <a:lstStyle/>
            <a:p>
              <a:pPr algn="l"/>
              <a:r>
                <a:rPr lang="zh-CN" sz="1500" dirty="0">
                  <a:solidFill>
                    <a:schemeClr val="accent2"/>
                  </a:solidFill>
                  <a:latin typeface="+mn-lt"/>
                  <a:ea typeface="+mn-ea"/>
                  <a:cs typeface="+mn-cs"/>
                </a:rPr>
                <a:t>05 / 吸附表现</a:t>
              </a:r>
            </a:p>
          </p:txBody>
        </p:sp>
        <p:sp>
          <p:nvSpPr>
            <p:cNvPr id="3" name="TextBox 3"/>
            <p:cNvSpPr txBox="1"/>
            <p:nvPr/>
          </p:nvSpPr>
          <p:spPr>
            <a:xfrm>
              <a:off x="518922" y="749618"/>
              <a:ext cx="6474562"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高去除率成立，但酸度窗口要分开读</a:t>
              </a:r>
            </a:p>
          </p:txBody>
        </p:sp>
      </p:grpSp>
      <p:grpSp>
        <p:nvGrpSpPr>
          <p:cNvPr id="32" name="Group 32"/>
          <p:cNvGrpSpPr/>
          <p:nvPr/>
        </p:nvGrpSpPr>
        <p:grpSpPr>
          <a:xfrm>
            <a:off x="479298" y="1513522"/>
            <a:ext cx="6188202" cy="4067557"/>
            <a:chOff x="479298" y="1513522"/>
            <a:chExt cx="6188202" cy="4067557"/>
          </a:xfrm>
        </p:grpSpPr>
        <p:sp>
          <p:nvSpPr>
            <p:cNvPr id="5" name="TextBox 5"/>
            <p:cNvSpPr txBox="1"/>
            <p:nvPr/>
          </p:nvSpPr>
          <p:spPr>
            <a:xfrm>
              <a:off x="523494" y="1513522"/>
              <a:ext cx="1592489" cy="381381"/>
            </a:xfrm>
            <a:prstGeom prst="rect">
              <a:avLst/>
            </a:prstGeom>
            <a:noFill/>
            <a:ln>
              <a:noFill/>
            </a:ln>
          </p:spPr>
          <p:txBody>
            <a:bodyPr wrap="none" lIns="0" tIns="0" rIns="0" bIns="0" anchor="t" anchorCtr="0">
              <a:spAutoFit/>
            </a:bodyPr>
            <a:lstStyle/>
            <a:p>
              <a:pPr algn="l"/>
              <a:r>
                <a:rPr lang="zh-CN" sz="1950" b="1" dirty="0">
                  <a:solidFill>
                    <a:schemeClr val="dk1"/>
                  </a:solidFill>
                  <a:latin typeface="+mn-lt"/>
                  <a:ea typeface="+mn-ea"/>
                  <a:cs typeface="+mn-cs"/>
                </a:rPr>
                <a:t>0.5 M HNO₃</a:t>
              </a:r>
            </a:p>
          </p:txBody>
        </p:sp>
        <p:sp>
          <p:nvSpPr>
            <p:cNvPr id="6" name="Rectangle 6"/>
            <p:cNvSpPr/>
            <p:nvPr/>
          </p:nvSpPr>
          <p:spPr>
            <a:xfrm>
              <a:off x="3143250" y="1571625"/>
              <a:ext cx="171450" cy="171450"/>
            </a:xfrm>
            <a:prstGeom prst="rect">
              <a:avLst/>
            </a:prstGeom>
            <a:solidFill>
              <a:schemeClr val="accent2"/>
            </a:solidFill>
            <a:ln>
              <a:noFill/>
            </a:ln>
          </p:spPr>
        </p:sp>
        <p:sp>
          <p:nvSpPr>
            <p:cNvPr id="7" name="TextBox 7"/>
            <p:cNvSpPr txBox="1"/>
            <p:nvPr/>
          </p:nvSpPr>
          <p:spPr>
            <a:xfrm>
              <a:off x="3421380" y="1562100"/>
              <a:ext cx="908114"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DAPhen　</a:t>
              </a:r>
            </a:p>
          </p:txBody>
        </p:sp>
        <p:sp>
          <p:nvSpPr>
            <p:cNvPr id="8" name="Rectangle 8"/>
            <p:cNvSpPr/>
            <p:nvPr/>
          </p:nvSpPr>
          <p:spPr>
            <a:xfrm>
              <a:off x="4762500" y="1571625"/>
              <a:ext cx="171450" cy="171450"/>
            </a:xfrm>
            <a:prstGeom prst="rect">
              <a:avLst/>
            </a:prstGeom>
            <a:solidFill>
              <a:schemeClr val="accent3"/>
            </a:solidFill>
            <a:ln>
              <a:noFill/>
            </a:ln>
          </p:spPr>
        </p:sp>
        <p:sp>
          <p:nvSpPr>
            <p:cNvPr id="9" name="TextBox 9"/>
            <p:cNvSpPr txBox="1"/>
            <p:nvPr/>
          </p:nvSpPr>
          <p:spPr>
            <a:xfrm>
              <a:off x="5040630" y="1562100"/>
              <a:ext cx="24365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Py</a:t>
              </a:r>
            </a:p>
          </p:txBody>
        </p:sp>
        <p:grpSp>
          <p:nvGrpSpPr>
            <p:cNvPr id="31" name="Group 31"/>
            <p:cNvGrpSpPr/>
            <p:nvPr/>
          </p:nvGrpSpPr>
          <p:grpSpPr>
            <a:xfrm>
              <a:off x="479298" y="1952625"/>
              <a:ext cx="6188202" cy="3628454"/>
              <a:chOff x="479298" y="1952625"/>
              <a:chExt cx="6188202" cy="3628454"/>
            </a:xfrm>
          </p:grpSpPr>
          <p:sp>
            <p:nvSpPr>
              <p:cNvPr id="10" name="Line 10"/>
              <p:cNvSpPr/>
              <p:nvPr/>
            </p:nvSpPr>
            <p:spPr>
              <a:xfrm>
                <a:off x="1143000" y="2190750"/>
                <a:ext cx="5524500" cy="9525"/>
              </a:xfrm>
              <a:custGeom>
                <a:avLst/>
                <a:gdLst/>
                <a:ahLst/>
                <a:cxnLst/>
                <a:rect l="l" t="t" r="r" b="b"/>
                <a:pathLst>
                  <a:path w="5524500" h="9525">
                    <a:moveTo>
                      <a:pt x="0" y="0"/>
                    </a:moveTo>
                    <a:lnTo>
                      <a:pt x="5524500" y="0"/>
                    </a:lnTo>
                  </a:path>
                </a:pathLst>
              </a:custGeom>
              <a:noFill/>
              <a:ln w="9525">
                <a:solidFill>
                  <a:srgbClr val="CEDBE1"/>
                </a:solidFill>
              </a:ln>
            </p:spPr>
          </p:sp>
          <p:sp>
            <p:nvSpPr>
              <p:cNvPr id="11" name="Line 11"/>
              <p:cNvSpPr/>
              <p:nvPr/>
            </p:nvSpPr>
            <p:spPr>
              <a:xfrm>
                <a:off x="1143000" y="3619500"/>
                <a:ext cx="5524500" cy="9525"/>
              </a:xfrm>
              <a:custGeom>
                <a:avLst/>
                <a:gdLst/>
                <a:ahLst/>
                <a:cxnLst/>
                <a:rect l="l" t="t" r="r" b="b"/>
                <a:pathLst>
                  <a:path w="5524500" h="9525">
                    <a:moveTo>
                      <a:pt x="0" y="0"/>
                    </a:moveTo>
                    <a:lnTo>
                      <a:pt x="5524500" y="0"/>
                    </a:lnTo>
                  </a:path>
                </a:pathLst>
              </a:custGeom>
              <a:noFill/>
              <a:ln w="9525">
                <a:solidFill>
                  <a:srgbClr val="CEDBE1"/>
                </a:solidFill>
              </a:ln>
            </p:spPr>
          </p:sp>
          <p:sp>
            <p:nvSpPr>
              <p:cNvPr id="12" name="Line 12"/>
              <p:cNvSpPr/>
              <p:nvPr/>
            </p:nvSpPr>
            <p:spPr>
              <a:xfrm>
                <a:off x="1143000" y="5048250"/>
                <a:ext cx="5524500" cy="9525"/>
              </a:xfrm>
              <a:custGeom>
                <a:avLst/>
                <a:gdLst/>
                <a:ahLst/>
                <a:cxnLst/>
                <a:rect l="l" t="t" r="r" b="b"/>
                <a:pathLst>
                  <a:path w="5524500" h="9525">
                    <a:moveTo>
                      <a:pt x="0" y="0"/>
                    </a:moveTo>
                    <a:lnTo>
                      <a:pt x="5524500" y="0"/>
                    </a:lnTo>
                  </a:path>
                </a:pathLst>
              </a:custGeom>
              <a:noFill/>
              <a:ln w="19050">
                <a:solidFill>
                  <a:srgbClr val="647884"/>
                </a:solidFill>
              </a:ln>
            </p:spPr>
          </p:sp>
          <p:sp>
            <p:nvSpPr>
              <p:cNvPr id="13" name="Rectangle 13"/>
              <p:cNvSpPr/>
              <p:nvPr/>
            </p:nvSpPr>
            <p:spPr>
              <a:xfrm>
                <a:off x="1581150" y="2216468"/>
                <a:ext cx="495300" cy="2831782"/>
              </a:xfrm>
              <a:prstGeom prst="rect">
                <a:avLst/>
              </a:prstGeom>
              <a:solidFill>
                <a:schemeClr val="accent2"/>
              </a:solidFill>
              <a:ln>
                <a:noFill/>
              </a:ln>
            </p:spPr>
          </p:sp>
          <p:sp>
            <p:nvSpPr>
              <p:cNvPr id="14" name="Rectangle 14"/>
              <p:cNvSpPr/>
              <p:nvPr/>
            </p:nvSpPr>
            <p:spPr>
              <a:xfrm>
                <a:off x="2171700" y="4453890"/>
                <a:ext cx="495300" cy="594360"/>
              </a:xfrm>
              <a:prstGeom prst="rect">
                <a:avLst/>
              </a:prstGeom>
              <a:solidFill>
                <a:schemeClr val="accent3"/>
              </a:solidFill>
              <a:ln>
                <a:noFill/>
              </a:ln>
            </p:spPr>
          </p:sp>
          <p:sp>
            <p:nvSpPr>
              <p:cNvPr id="15" name="Rectangle 15"/>
              <p:cNvSpPr/>
              <p:nvPr/>
            </p:nvSpPr>
            <p:spPr>
              <a:xfrm>
                <a:off x="3390900" y="2310765"/>
                <a:ext cx="495300" cy="2737485"/>
              </a:xfrm>
              <a:prstGeom prst="rect">
                <a:avLst/>
              </a:prstGeom>
              <a:solidFill>
                <a:schemeClr val="accent2"/>
              </a:solidFill>
              <a:ln>
                <a:noFill/>
              </a:ln>
            </p:spPr>
          </p:sp>
          <p:sp>
            <p:nvSpPr>
              <p:cNvPr id="16" name="Rectangle 16"/>
              <p:cNvSpPr/>
              <p:nvPr/>
            </p:nvSpPr>
            <p:spPr>
              <a:xfrm>
                <a:off x="3981450" y="4262438"/>
                <a:ext cx="495300" cy="785812"/>
              </a:xfrm>
              <a:prstGeom prst="rect">
                <a:avLst/>
              </a:prstGeom>
              <a:solidFill>
                <a:schemeClr val="accent3"/>
              </a:solidFill>
              <a:ln>
                <a:noFill/>
              </a:ln>
            </p:spPr>
          </p:sp>
          <p:sp>
            <p:nvSpPr>
              <p:cNvPr id="17" name="Rectangle 17"/>
              <p:cNvSpPr/>
              <p:nvPr/>
            </p:nvSpPr>
            <p:spPr>
              <a:xfrm>
                <a:off x="5200650" y="3593782"/>
                <a:ext cx="495300" cy="1454468"/>
              </a:xfrm>
              <a:prstGeom prst="rect">
                <a:avLst/>
              </a:prstGeom>
              <a:solidFill>
                <a:schemeClr val="accent2"/>
              </a:solidFill>
              <a:ln>
                <a:noFill/>
              </a:ln>
            </p:spPr>
          </p:sp>
          <p:sp>
            <p:nvSpPr>
              <p:cNvPr id="18" name="Line 18"/>
              <p:cNvSpPr/>
              <p:nvPr/>
            </p:nvSpPr>
            <p:spPr>
              <a:xfrm>
                <a:off x="5791200" y="5048250"/>
                <a:ext cx="495300" cy="9525"/>
              </a:xfrm>
              <a:custGeom>
                <a:avLst/>
                <a:gdLst/>
                <a:ahLst/>
                <a:cxnLst/>
                <a:rect l="l" t="t" r="r" b="b"/>
                <a:pathLst>
                  <a:path w="495300" h="9525">
                    <a:moveTo>
                      <a:pt x="0" y="0"/>
                    </a:moveTo>
                    <a:lnTo>
                      <a:pt x="495300" y="0"/>
                    </a:lnTo>
                  </a:path>
                </a:pathLst>
              </a:custGeom>
              <a:noFill/>
              <a:ln w="38100">
                <a:solidFill>
                  <a:schemeClr val="accent3"/>
                </a:solidFill>
              </a:ln>
            </p:spPr>
          </p:sp>
          <p:sp>
            <p:nvSpPr>
              <p:cNvPr id="19" name="TextBox 19"/>
              <p:cNvSpPr txBox="1"/>
              <p:nvPr/>
            </p:nvSpPr>
            <p:spPr>
              <a:xfrm>
                <a:off x="479298" y="2095500"/>
                <a:ext cx="499872" cy="293370"/>
              </a:xfrm>
              <a:prstGeom prst="rect">
                <a:avLst/>
              </a:prstGeom>
              <a:noFill/>
              <a:ln>
                <a:noFill/>
              </a:ln>
            </p:spPr>
            <p:txBody>
              <a:bodyPr wrap="none" lIns="0" tIns="0" rIns="0" bIns="0" anchor="t" anchorCtr="0">
                <a:spAutoFit/>
              </a:bodyPr>
              <a:lstStyle/>
              <a:p>
                <a:pPr algn="r"/>
                <a:r>
                  <a:rPr lang="zh-CN" sz="1500" dirty="0">
                    <a:solidFill>
                      <a:schemeClr val="accent6"/>
                    </a:solidFill>
                    <a:latin typeface="+mn-lt"/>
                    <a:ea typeface="+mn-ea"/>
                    <a:cs typeface="+mn-cs"/>
                  </a:rPr>
                  <a:t>100%</a:t>
                </a:r>
              </a:p>
            </p:txBody>
          </p:sp>
          <p:sp>
            <p:nvSpPr>
              <p:cNvPr id="20" name="TextBox 20"/>
              <p:cNvSpPr txBox="1"/>
              <p:nvPr/>
            </p:nvSpPr>
            <p:spPr>
              <a:xfrm>
                <a:off x="590360" y="3524250"/>
                <a:ext cx="388810" cy="293370"/>
              </a:xfrm>
              <a:prstGeom prst="rect">
                <a:avLst/>
              </a:prstGeom>
              <a:noFill/>
              <a:ln>
                <a:noFill/>
              </a:ln>
            </p:spPr>
            <p:txBody>
              <a:bodyPr wrap="none" lIns="0" tIns="0" rIns="0" bIns="0" anchor="t" anchorCtr="0">
                <a:spAutoFit/>
              </a:bodyPr>
              <a:lstStyle/>
              <a:p>
                <a:pPr algn="r"/>
                <a:r>
                  <a:rPr lang="zh-CN" sz="1500" dirty="0">
                    <a:solidFill>
                      <a:schemeClr val="accent6"/>
                    </a:solidFill>
                    <a:latin typeface="+mn-lt"/>
                    <a:ea typeface="+mn-ea"/>
                    <a:cs typeface="+mn-cs"/>
                  </a:rPr>
                  <a:t>50%</a:t>
                </a:r>
              </a:p>
            </p:txBody>
          </p:sp>
          <p:sp>
            <p:nvSpPr>
              <p:cNvPr id="21" name="TextBox 21"/>
              <p:cNvSpPr txBox="1"/>
              <p:nvPr/>
            </p:nvSpPr>
            <p:spPr>
              <a:xfrm>
                <a:off x="852869" y="4953000"/>
                <a:ext cx="126302" cy="293370"/>
              </a:xfrm>
              <a:prstGeom prst="rect">
                <a:avLst/>
              </a:prstGeom>
              <a:noFill/>
              <a:ln>
                <a:noFill/>
              </a:ln>
            </p:spPr>
            <p:txBody>
              <a:bodyPr wrap="none" lIns="0" tIns="0" rIns="0" bIns="0" anchor="t" anchorCtr="0">
                <a:spAutoFit/>
              </a:bodyPr>
              <a:lstStyle/>
              <a:p>
                <a:pPr algn="r"/>
                <a:r>
                  <a:rPr lang="zh-CN" sz="1500" dirty="0">
                    <a:solidFill>
                      <a:schemeClr val="accent6"/>
                    </a:solidFill>
                    <a:latin typeface="+mn-lt"/>
                    <a:ea typeface="+mn-ea"/>
                    <a:cs typeface="+mn-cs"/>
                  </a:rPr>
                  <a:t>0</a:t>
                </a:r>
              </a:p>
            </p:txBody>
          </p:sp>
          <p:sp>
            <p:nvSpPr>
              <p:cNvPr id="22" name="TextBox 22"/>
              <p:cNvSpPr txBox="1"/>
              <p:nvPr/>
            </p:nvSpPr>
            <p:spPr>
              <a:xfrm>
                <a:off x="1587951" y="1952625"/>
                <a:ext cx="481698" cy="293370"/>
              </a:xfrm>
              <a:prstGeom prst="rect">
                <a:avLst/>
              </a:prstGeom>
              <a:noFill/>
              <a:ln>
                <a:noFill/>
              </a:ln>
            </p:spPr>
            <p:txBody>
              <a:bodyPr wrap="none" lIns="0" tIns="0" rIns="0" bIns="0" anchor="t" anchorCtr="0">
                <a:spAutoFit/>
              </a:bodyPr>
              <a:lstStyle/>
              <a:p>
                <a:pPr algn="ctr"/>
                <a:r>
                  <a:rPr lang="zh-CN" sz="1500" b="1" dirty="0">
                    <a:solidFill>
                      <a:schemeClr val="accent2"/>
                    </a:solidFill>
                    <a:latin typeface="+mn-lt"/>
                    <a:ea typeface="+mn-ea"/>
                    <a:cs typeface="+mn-cs"/>
                  </a:rPr>
                  <a:t>99.1</a:t>
                </a:r>
              </a:p>
            </p:txBody>
          </p:sp>
          <p:sp>
            <p:nvSpPr>
              <p:cNvPr id="23" name="TextBox 23"/>
              <p:cNvSpPr txBox="1"/>
              <p:nvPr/>
            </p:nvSpPr>
            <p:spPr>
              <a:xfrm>
                <a:off x="2189607" y="4171950"/>
                <a:ext cx="459486" cy="293370"/>
              </a:xfrm>
              <a:prstGeom prst="rect">
                <a:avLst/>
              </a:prstGeom>
              <a:noFill/>
              <a:ln>
                <a:noFill/>
              </a:ln>
            </p:spPr>
            <p:txBody>
              <a:bodyPr wrap="none" lIns="0" tIns="0" rIns="0" bIns="0" anchor="t" anchorCtr="0">
                <a:spAutoFit/>
              </a:bodyPr>
              <a:lstStyle/>
              <a:p>
                <a:pPr algn="ctr"/>
                <a:r>
                  <a:rPr lang="zh-CN" sz="1500" dirty="0">
                    <a:solidFill>
                      <a:schemeClr val="accent3"/>
                    </a:solidFill>
                    <a:latin typeface="+mn-lt"/>
                    <a:ea typeface="+mn-ea"/>
                    <a:cs typeface="+mn-cs"/>
                  </a:rPr>
                  <a:t>20.8</a:t>
                </a:r>
              </a:p>
            </p:txBody>
          </p:sp>
          <p:sp>
            <p:nvSpPr>
              <p:cNvPr id="24" name="TextBox 24"/>
              <p:cNvSpPr txBox="1"/>
              <p:nvPr/>
            </p:nvSpPr>
            <p:spPr>
              <a:xfrm>
                <a:off x="3397701" y="2047875"/>
                <a:ext cx="481698" cy="293370"/>
              </a:xfrm>
              <a:prstGeom prst="rect">
                <a:avLst/>
              </a:prstGeom>
              <a:noFill/>
              <a:ln>
                <a:noFill/>
              </a:ln>
            </p:spPr>
            <p:txBody>
              <a:bodyPr wrap="none" lIns="0" tIns="0" rIns="0" bIns="0" anchor="t" anchorCtr="0">
                <a:spAutoFit/>
              </a:bodyPr>
              <a:lstStyle/>
              <a:p>
                <a:pPr algn="ctr"/>
                <a:r>
                  <a:rPr lang="zh-CN" sz="1500" b="1" dirty="0">
                    <a:solidFill>
                      <a:schemeClr val="accent2"/>
                    </a:solidFill>
                    <a:latin typeface="+mn-lt"/>
                    <a:ea typeface="+mn-ea"/>
                    <a:cs typeface="+mn-cs"/>
                  </a:rPr>
                  <a:t>95.8</a:t>
                </a:r>
              </a:p>
            </p:txBody>
          </p:sp>
          <p:sp>
            <p:nvSpPr>
              <p:cNvPr id="25" name="TextBox 25"/>
              <p:cNvSpPr txBox="1"/>
              <p:nvPr/>
            </p:nvSpPr>
            <p:spPr>
              <a:xfrm>
                <a:off x="3999357" y="3981450"/>
                <a:ext cx="459486" cy="293370"/>
              </a:xfrm>
              <a:prstGeom prst="rect">
                <a:avLst/>
              </a:prstGeom>
              <a:noFill/>
              <a:ln>
                <a:noFill/>
              </a:ln>
            </p:spPr>
            <p:txBody>
              <a:bodyPr wrap="none" lIns="0" tIns="0" rIns="0" bIns="0" anchor="t" anchorCtr="0">
                <a:spAutoFit/>
              </a:bodyPr>
              <a:lstStyle/>
              <a:p>
                <a:pPr algn="ctr"/>
                <a:r>
                  <a:rPr lang="zh-CN" sz="1500" dirty="0">
                    <a:solidFill>
                      <a:schemeClr val="accent3"/>
                    </a:solidFill>
                    <a:latin typeface="+mn-lt"/>
                    <a:ea typeface="+mn-ea"/>
                    <a:cs typeface="+mn-cs"/>
                  </a:rPr>
                  <a:t>27.5</a:t>
                </a:r>
              </a:p>
            </p:txBody>
          </p:sp>
          <p:sp>
            <p:nvSpPr>
              <p:cNvPr id="26" name="TextBox 26"/>
              <p:cNvSpPr txBox="1"/>
              <p:nvPr/>
            </p:nvSpPr>
            <p:spPr>
              <a:xfrm>
                <a:off x="5207451" y="3314700"/>
                <a:ext cx="481698" cy="293370"/>
              </a:xfrm>
              <a:prstGeom prst="rect">
                <a:avLst/>
              </a:prstGeom>
              <a:noFill/>
              <a:ln>
                <a:noFill/>
              </a:ln>
            </p:spPr>
            <p:txBody>
              <a:bodyPr wrap="none" lIns="0" tIns="0" rIns="0" bIns="0" anchor="t" anchorCtr="0">
                <a:spAutoFit/>
              </a:bodyPr>
              <a:lstStyle/>
              <a:p>
                <a:pPr algn="ctr"/>
                <a:r>
                  <a:rPr lang="zh-CN" sz="1500" b="1" dirty="0">
                    <a:solidFill>
                      <a:schemeClr val="accent2"/>
                    </a:solidFill>
                    <a:latin typeface="+mn-lt"/>
                    <a:ea typeface="+mn-ea"/>
                    <a:cs typeface="+mn-cs"/>
                  </a:rPr>
                  <a:t>50.9</a:t>
                </a:r>
              </a:p>
            </p:txBody>
          </p:sp>
          <p:sp>
            <p:nvSpPr>
              <p:cNvPr id="27" name="TextBox 27"/>
              <p:cNvSpPr txBox="1"/>
              <p:nvPr/>
            </p:nvSpPr>
            <p:spPr>
              <a:xfrm>
                <a:off x="5672804" y="4705350"/>
                <a:ext cx="732092" cy="293370"/>
              </a:xfrm>
              <a:prstGeom prst="rect">
                <a:avLst/>
              </a:prstGeom>
              <a:noFill/>
              <a:ln>
                <a:noFill/>
              </a:ln>
            </p:spPr>
            <p:txBody>
              <a:bodyPr wrap="none" lIns="0" tIns="0" rIns="0" bIns="0" anchor="t" anchorCtr="0">
                <a:spAutoFit/>
              </a:bodyPr>
              <a:lstStyle/>
              <a:p>
                <a:pPr algn="ctr"/>
                <a:r>
                  <a:rPr lang="zh-CN" sz="1500" dirty="0">
                    <a:solidFill>
                      <a:schemeClr val="accent3"/>
                    </a:solidFill>
                    <a:latin typeface="+mn-lt"/>
                    <a:ea typeface="+mn-ea"/>
                    <a:cs typeface="+mn-cs"/>
                  </a:rPr>
                  <a:t>未去除*</a:t>
                </a:r>
              </a:p>
            </p:txBody>
          </p:sp>
          <p:sp>
            <p:nvSpPr>
              <p:cNvPr id="28" name="TextBox 28"/>
              <p:cNvSpPr txBox="1"/>
              <p:nvPr/>
            </p:nvSpPr>
            <p:spPr>
              <a:xfrm>
                <a:off x="1739598" y="5199698"/>
                <a:ext cx="768953" cy="381381"/>
              </a:xfrm>
              <a:prstGeom prst="rect">
                <a:avLst/>
              </a:prstGeom>
              <a:noFill/>
              <a:ln>
                <a:noFill/>
              </a:ln>
            </p:spPr>
            <p:txBody>
              <a:bodyPr wrap="none" lIns="0" tIns="0" rIns="0" bIns="0" anchor="t" anchorCtr="0">
                <a:spAutoFit/>
              </a:bodyPr>
              <a:lstStyle/>
              <a:p>
                <a:pPr algn="ctr"/>
                <a:r>
                  <a:rPr lang="zh-CN" sz="1950" dirty="0">
                    <a:solidFill>
                      <a:schemeClr val="dk1"/>
                    </a:solidFill>
                    <a:latin typeface="+mn-lt"/>
                    <a:ea typeface="+mn-ea"/>
                    <a:cs typeface="+mn-cs"/>
                  </a:rPr>
                  <a:t>Np(V)</a:t>
                </a:r>
              </a:p>
            </p:txBody>
          </p:sp>
          <p:sp>
            <p:nvSpPr>
              <p:cNvPr id="29" name="TextBox 29"/>
              <p:cNvSpPr txBox="1"/>
              <p:nvPr/>
            </p:nvSpPr>
            <p:spPr>
              <a:xfrm>
                <a:off x="3506598" y="5199698"/>
                <a:ext cx="854454" cy="381381"/>
              </a:xfrm>
              <a:prstGeom prst="rect">
                <a:avLst/>
              </a:prstGeom>
              <a:noFill/>
              <a:ln>
                <a:noFill/>
              </a:ln>
            </p:spPr>
            <p:txBody>
              <a:bodyPr wrap="none" lIns="0" tIns="0" rIns="0" bIns="0" anchor="t" anchorCtr="0">
                <a:spAutoFit/>
              </a:bodyPr>
              <a:lstStyle/>
              <a:p>
                <a:pPr algn="ctr"/>
                <a:r>
                  <a:rPr lang="zh-CN" sz="1950" dirty="0">
                    <a:solidFill>
                      <a:schemeClr val="dk1"/>
                    </a:solidFill>
                    <a:latin typeface="+mn-lt"/>
                    <a:ea typeface="+mn-ea"/>
                    <a:cs typeface="+mn-cs"/>
                  </a:rPr>
                  <a:t>Pu(IV)</a:t>
                </a:r>
              </a:p>
            </p:txBody>
          </p:sp>
          <p:sp>
            <p:nvSpPr>
              <p:cNvPr id="30" name="TextBox 30"/>
              <p:cNvSpPr txBox="1"/>
              <p:nvPr/>
            </p:nvSpPr>
            <p:spPr>
              <a:xfrm>
                <a:off x="5280915" y="5199698"/>
                <a:ext cx="925319" cy="381381"/>
              </a:xfrm>
              <a:prstGeom prst="rect">
                <a:avLst/>
              </a:prstGeom>
              <a:noFill/>
              <a:ln>
                <a:noFill/>
              </a:ln>
            </p:spPr>
            <p:txBody>
              <a:bodyPr wrap="none" lIns="0" tIns="0" rIns="0" bIns="0" anchor="t" anchorCtr="0">
                <a:spAutoFit/>
              </a:bodyPr>
              <a:lstStyle/>
              <a:p>
                <a:pPr algn="ctr"/>
                <a:r>
                  <a:rPr lang="zh-CN" sz="1950" dirty="0">
                    <a:solidFill>
                      <a:schemeClr val="dk1"/>
                    </a:solidFill>
                    <a:latin typeface="+mn-lt"/>
                    <a:ea typeface="+mn-ea"/>
                    <a:cs typeface="+mn-cs"/>
                  </a:rPr>
                  <a:t>Am(III)</a:t>
                </a:r>
              </a:p>
            </p:txBody>
          </p:sp>
        </p:grpSp>
      </p:grpSp>
      <p:grpSp>
        <p:nvGrpSpPr>
          <p:cNvPr id="41" name="Group 41"/>
          <p:cNvGrpSpPr/>
          <p:nvPr/>
        </p:nvGrpSpPr>
        <p:grpSpPr>
          <a:xfrm>
            <a:off x="7620000" y="1524000"/>
            <a:ext cx="4038600" cy="4000500"/>
            <a:chOff x="7620000" y="1524000"/>
            <a:chExt cx="4038600" cy="4000500"/>
          </a:xfrm>
        </p:grpSpPr>
        <p:sp>
          <p:nvSpPr>
            <p:cNvPr id="33" name="Rectangle 33"/>
            <p:cNvSpPr/>
            <p:nvPr/>
          </p:nvSpPr>
          <p:spPr>
            <a:xfrm>
              <a:off x="7620000" y="1524000"/>
              <a:ext cx="4038600" cy="4000500"/>
            </a:xfrm>
            <a:prstGeom prst="rect">
              <a:avLst/>
            </a:prstGeom>
            <a:solidFill>
              <a:schemeClr val="accent5"/>
            </a:solidFill>
            <a:ln>
              <a:noFill/>
            </a:ln>
          </p:spPr>
        </p:sp>
        <p:sp>
          <p:nvSpPr>
            <p:cNvPr id="34" name="TextBox 34"/>
            <p:cNvSpPr txBox="1"/>
            <p:nvPr/>
          </p:nvSpPr>
          <p:spPr>
            <a:xfrm>
              <a:off x="7876794" y="1732598"/>
              <a:ext cx="2422512"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mn-lt"/>
                  <a:ea typeface="+mn-ea"/>
                  <a:cs typeface="+mn-cs"/>
                </a:rPr>
                <a:t>降至 0.01 M HNO₃</a:t>
              </a:r>
            </a:p>
          </p:txBody>
        </p:sp>
        <p:sp>
          <p:nvSpPr>
            <p:cNvPr id="35" name="TextBox 35"/>
            <p:cNvSpPr txBox="1"/>
            <p:nvPr/>
          </p:nvSpPr>
          <p:spPr>
            <a:xfrm>
              <a:off x="7876794" y="2313622"/>
              <a:ext cx="1830827"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Am(III) 去除率</a:t>
              </a:r>
            </a:p>
          </p:txBody>
        </p:sp>
        <p:sp>
          <p:nvSpPr>
            <p:cNvPr id="36" name="TextBox 36"/>
            <p:cNvSpPr txBox="1"/>
            <p:nvPr/>
          </p:nvSpPr>
          <p:spPr>
            <a:xfrm>
              <a:off x="7869936" y="2825115"/>
              <a:ext cx="1409580" cy="645414"/>
            </a:xfrm>
            <a:prstGeom prst="rect">
              <a:avLst/>
            </a:prstGeom>
            <a:noFill/>
            <a:ln>
              <a:noFill/>
            </a:ln>
          </p:spPr>
          <p:txBody>
            <a:bodyPr wrap="none" lIns="0" tIns="0" rIns="0" bIns="0" anchor="t" anchorCtr="0">
              <a:spAutoFit/>
            </a:bodyPr>
            <a:lstStyle/>
            <a:p>
              <a:pPr algn="l"/>
              <a:r>
                <a:rPr lang="zh-CN" sz="3300" b="1" dirty="0">
                  <a:solidFill>
                    <a:schemeClr val="accent2"/>
                  </a:solidFill>
                  <a:latin typeface="+mn-lt"/>
                  <a:ea typeface="+mn-ea"/>
                  <a:cs typeface="+mn-cs"/>
                </a:rPr>
                <a:t>98.6%</a:t>
              </a:r>
            </a:p>
          </p:txBody>
        </p:sp>
        <p:sp>
          <p:nvSpPr>
            <p:cNvPr id="37" name="TextBox 37"/>
            <p:cNvSpPr txBox="1"/>
            <p:nvPr/>
          </p:nvSpPr>
          <p:spPr>
            <a:xfrm>
              <a:off x="7879080" y="3381375"/>
              <a:ext cx="1209675"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DAPhen-COF</a:t>
              </a:r>
            </a:p>
          </p:txBody>
        </p:sp>
        <p:sp>
          <p:nvSpPr>
            <p:cNvPr id="38" name="TextBox 38"/>
            <p:cNvSpPr txBox="1"/>
            <p:nvPr/>
          </p:nvSpPr>
          <p:spPr>
            <a:xfrm>
              <a:off x="7875270" y="3986212"/>
              <a:ext cx="2207476" cy="440055"/>
            </a:xfrm>
            <a:prstGeom prst="rect">
              <a:avLst/>
            </a:prstGeom>
            <a:noFill/>
            <a:ln>
              <a:noFill/>
            </a:ln>
          </p:spPr>
          <p:txBody>
            <a:bodyPr wrap="none" lIns="0" tIns="0" rIns="0" bIns="0" anchor="t" anchorCtr="0">
              <a:spAutoFit/>
            </a:bodyPr>
            <a:lstStyle/>
            <a:p>
              <a:pPr algn="l"/>
              <a:r>
                <a:rPr lang="zh-CN" sz="2250" dirty="0">
                  <a:solidFill>
                    <a:schemeClr val="accent3"/>
                  </a:solidFill>
                  <a:latin typeface="+mn-lt"/>
                  <a:ea typeface="+mn-ea"/>
                  <a:cs typeface="+mn-cs"/>
                </a:rPr>
                <a:t>Py-COF：3.3%</a:t>
              </a:r>
            </a:p>
          </p:txBody>
        </p:sp>
        <p:sp>
          <p:nvSpPr>
            <p:cNvPr id="39" name="TextBox 39"/>
            <p:cNvSpPr txBox="1"/>
            <p:nvPr/>
          </p:nvSpPr>
          <p:spPr>
            <a:xfrm>
              <a:off x="7876794" y="4637722"/>
              <a:ext cx="1332357"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条件：低酸</a:t>
              </a:r>
            </a:p>
          </p:txBody>
        </p:sp>
        <p:sp>
          <p:nvSpPr>
            <p:cNvPr id="40" name="TextBox 40"/>
            <p:cNvSpPr txBox="1"/>
            <p:nvPr/>
          </p:nvSpPr>
          <p:spPr>
            <a:xfrm>
              <a:off x="7876794" y="5037772"/>
              <a:ext cx="2382393"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结果：镅的高去除率</a:t>
              </a:r>
            </a:p>
          </p:txBody>
        </p:sp>
      </p:grpSp>
      <p:grpSp>
        <p:nvGrpSpPr>
          <p:cNvPr id="44" name="Group 44"/>
          <p:cNvGrpSpPr/>
          <p:nvPr/>
        </p:nvGrpSpPr>
        <p:grpSpPr>
          <a:xfrm>
            <a:off x="527304" y="5804535"/>
            <a:ext cx="8098810" cy="472821"/>
            <a:chOff x="527304" y="5804535"/>
            <a:chExt cx="8098810" cy="472821"/>
          </a:xfrm>
        </p:grpSpPr>
        <p:sp>
          <p:nvSpPr>
            <p:cNvPr id="42" name="TextBox 42"/>
            <p:cNvSpPr txBox="1"/>
            <p:nvPr/>
          </p:nvSpPr>
          <p:spPr>
            <a:xfrm>
              <a:off x="527304" y="5804535"/>
              <a:ext cx="8098810"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实验条件：5 mg / 2 mL，25°C，1 h。图中数值单位为 %；*Py 对 Am 未观察到去除，零线不代表精确检测限。</a:t>
              </a:r>
            </a:p>
          </p:txBody>
        </p:sp>
        <p:sp>
          <p:nvSpPr>
            <p:cNvPr id="43" name="TextBox 43"/>
            <p:cNvSpPr txBox="1"/>
            <p:nvPr/>
          </p:nvSpPr>
          <p:spPr>
            <a:xfrm>
              <a:off x="527304" y="6042660"/>
              <a:ext cx="4414266"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不同酸度的结果不能作为“同一条件下全部超过 95%”来表述。</a:t>
              </a:r>
            </a:p>
          </p:txBody>
        </p:sp>
      </p:grpSp>
      <p:grpSp>
        <p:nvGrpSpPr>
          <p:cNvPr id="48" name="Group 48"/>
          <p:cNvGrpSpPr/>
          <p:nvPr/>
        </p:nvGrpSpPr>
        <p:grpSpPr>
          <a:xfrm>
            <a:off x="527304" y="6305550"/>
            <a:ext cx="11137392" cy="371856"/>
            <a:chOff x="527304" y="6305550"/>
            <a:chExt cx="11137392" cy="371856"/>
          </a:xfrm>
        </p:grpSpPr>
        <p:sp>
          <p:nvSpPr>
            <p:cNvPr id="45" name="Line 45"/>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rgbClr val="CEDBE1"/>
              </a:solidFill>
            </a:ln>
          </p:spPr>
        </p:sp>
        <p:sp>
          <p:nvSpPr>
            <p:cNvPr id="46" name="TextBox 46"/>
            <p:cNvSpPr txBox="1"/>
            <p:nvPr/>
          </p:nvSpPr>
          <p:spPr>
            <a:xfrm>
              <a:off x="527304" y="6442710"/>
              <a:ext cx="373772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数据来源：§2.2、Figure 4a–c · 依据正文数值重绘</a:t>
              </a:r>
            </a:p>
          </p:txBody>
        </p:sp>
        <p:sp>
          <p:nvSpPr>
            <p:cNvPr id="47" name="TextBox 47"/>
            <p:cNvSpPr txBox="1"/>
            <p:nvPr/>
          </p:nvSpPr>
          <p:spPr>
            <a:xfrm>
              <a:off x="11111332" y="6442710"/>
              <a:ext cx="55336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06 / 12</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8922" y="361950"/>
            <a:ext cx="7526533" cy="945071"/>
            <a:chOff x="518922" y="361950"/>
            <a:chExt cx="7526533" cy="945071"/>
          </a:xfrm>
        </p:grpSpPr>
        <p:sp>
          <p:nvSpPr>
            <p:cNvPr id="2" name="TextBox 2"/>
            <p:cNvSpPr txBox="1"/>
            <p:nvPr/>
          </p:nvSpPr>
          <p:spPr>
            <a:xfrm>
              <a:off x="525780" y="361950"/>
              <a:ext cx="1479232" cy="293370"/>
            </a:xfrm>
            <a:prstGeom prst="rect">
              <a:avLst/>
            </a:prstGeom>
            <a:noFill/>
            <a:ln>
              <a:noFill/>
            </a:ln>
          </p:spPr>
          <p:txBody>
            <a:bodyPr wrap="none" lIns="0" tIns="0" rIns="0" bIns="0" anchor="t" anchorCtr="0">
              <a:spAutoFit/>
            </a:bodyPr>
            <a:lstStyle/>
            <a:p>
              <a:pPr algn="l"/>
              <a:r>
                <a:rPr lang="zh-CN" sz="1500" dirty="0">
                  <a:solidFill>
                    <a:schemeClr val="accent2"/>
                  </a:solidFill>
                  <a:latin typeface="+mn-lt"/>
                  <a:ea typeface="+mn-ea"/>
                  <a:cs typeface="+mn-cs"/>
                </a:rPr>
                <a:t>06 / 分离选择性</a:t>
              </a:r>
            </a:p>
          </p:txBody>
        </p:sp>
        <p:sp>
          <p:nvSpPr>
            <p:cNvPr id="3" name="TextBox 3"/>
            <p:cNvSpPr txBox="1"/>
            <p:nvPr/>
          </p:nvSpPr>
          <p:spPr>
            <a:xfrm>
              <a:off x="518922" y="749618"/>
              <a:ext cx="7526533"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真正突出的优势，是 Np(V)/Ln 的选择性</a:t>
              </a:r>
            </a:p>
          </p:txBody>
        </p:sp>
      </p:grpSp>
      <p:grpSp>
        <p:nvGrpSpPr>
          <p:cNvPr id="36" name="Group 36"/>
          <p:cNvGrpSpPr/>
          <p:nvPr/>
        </p:nvGrpSpPr>
        <p:grpSpPr>
          <a:xfrm>
            <a:off x="523494" y="1580198"/>
            <a:ext cx="6699219" cy="4085272"/>
            <a:chOff x="523494" y="1580198"/>
            <a:chExt cx="6699219" cy="4085272"/>
          </a:xfrm>
        </p:grpSpPr>
        <p:sp>
          <p:nvSpPr>
            <p:cNvPr id="5" name="TextBox 5"/>
            <p:cNvSpPr txBox="1"/>
            <p:nvPr/>
          </p:nvSpPr>
          <p:spPr>
            <a:xfrm>
              <a:off x="523494" y="1580198"/>
              <a:ext cx="3094696" cy="381381"/>
            </a:xfrm>
            <a:prstGeom prst="rect">
              <a:avLst/>
            </a:prstGeom>
            <a:noFill/>
            <a:ln>
              <a:noFill/>
            </a:ln>
          </p:spPr>
          <p:txBody>
            <a:bodyPr wrap="none" lIns="0" tIns="0" rIns="0" bIns="0" anchor="t" anchorCtr="0">
              <a:spAutoFit/>
            </a:bodyPr>
            <a:lstStyle/>
            <a:p>
              <a:pPr algn="l"/>
              <a:r>
                <a:rPr lang="zh-CN" sz="1950" b="1" dirty="0">
                  <a:solidFill>
                    <a:schemeClr val="dk1"/>
                  </a:solidFill>
                  <a:latin typeface="+mn-lt"/>
                  <a:ea typeface="+mn-ea"/>
                  <a:cs typeface="+mn-cs"/>
                </a:rPr>
                <a:t>Np / Ln 分离因子（SF）</a:t>
              </a:r>
            </a:p>
          </p:txBody>
        </p:sp>
        <p:grpSp>
          <p:nvGrpSpPr>
            <p:cNvPr id="35" name="Group 35"/>
            <p:cNvGrpSpPr/>
            <p:nvPr/>
          </p:nvGrpSpPr>
          <p:grpSpPr>
            <a:xfrm>
              <a:off x="813435" y="2114550"/>
              <a:ext cx="6409278" cy="3550920"/>
              <a:chOff x="813435" y="2114550"/>
              <a:chExt cx="6409278" cy="3550920"/>
            </a:xfrm>
          </p:grpSpPr>
          <p:sp>
            <p:nvSpPr>
              <p:cNvPr id="6" name="Line 6"/>
              <p:cNvSpPr/>
              <p:nvPr/>
            </p:nvSpPr>
            <p:spPr>
              <a:xfrm>
                <a:off x="1428750" y="2114550"/>
                <a:ext cx="9525" cy="3105150"/>
              </a:xfrm>
              <a:custGeom>
                <a:avLst/>
                <a:gdLst/>
                <a:ahLst/>
                <a:cxnLst/>
                <a:rect l="l" t="t" r="r" b="b"/>
                <a:pathLst>
                  <a:path w="9525" h="3105150">
                    <a:moveTo>
                      <a:pt x="0" y="0"/>
                    </a:moveTo>
                    <a:lnTo>
                      <a:pt x="0" y="3105150"/>
                    </a:lnTo>
                  </a:path>
                </a:pathLst>
              </a:custGeom>
              <a:noFill/>
              <a:ln w="9525">
                <a:solidFill>
                  <a:srgbClr val="CEDBE1"/>
                </a:solidFill>
              </a:ln>
            </p:spPr>
          </p:sp>
          <p:sp>
            <p:nvSpPr>
              <p:cNvPr id="7" name="Line 7"/>
              <p:cNvSpPr/>
              <p:nvPr/>
            </p:nvSpPr>
            <p:spPr>
              <a:xfrm>
                <a:off x="3302032" y="2114550"/>
                <a:ext cx="9525" cy="3105150"/>
              </a:xfrm>
              <a:custGeom>
                <a:avLst/>
                <a:gdLst/>
                <a:ahLst/>
                <a:cxnLst/>
                <a:rect l="l" t="t" r="r" b="b"/>
                <a:pathLst>
                  <a:path w="9525" h="3105150">
                    <a:moveTo>
                      <a:pt x="0" y="0"/>
                    </a:moveTo>
                    <a:lnTo>
                      <a:pt x="0" y="3105150"/>
                    </a:lnTo>
                  </a:path>
                </a:pathLst>
              </a:custGeom>
              <a:noFill/>
              <a:ln w="9525">
                <a:solidFill>
                  <a:srgbClr val="CEDBE1"/>
                </a:solidFill>
              </a:ln>
            </p:spPr>
          </p:sp>
          <p:sp>
            <p:nvSpPr>
              <p:cNvPr id="8" name="Line 8"/>
              <p:cNvSpPr/>
              <p:nvPr/>
            </p:nvSpPr>
            <p:spPr>
              <a:xfrm>
                <a:off x="5175218" y="2114550"/>
                <a:ext cx="9525" cy="3105150"/>
              </a:xfrm>
              <a:custGeom>
                <a:avLst/>
                <a:gdLst/>
                <a:ahLst/>
                <a:cxnLst/>
                <a:rect l="l" t="t" r="r" b="b"/>
                <a:pathLst>
                  <a:path w="9525" h="3105150">
                    <a:moveTo>
                      <a:pt x="0" y="0"/>
                    </a:moveTo>
                    <a:lnTo>
                      <a:pt x="0" y="3105150"/>
                    </a:lnTo>
                  </a:path>
                </a:pathLst>
              </a:custGeom>
              <a:noFill/>
              <a:ln w="9525">
                <a:solidFill>
                  <a:srgbClr val="CEDBE1"/>
                </a:solidFill>
              </a:ln>
            </p:spPr>
          </p:sp>
          <p:sp>
            <p:nvSpPr>
              <p:cNvPr id="9" name="Line 9"/>
              <p:cNvSpPr/>
              <p:nvPr/>
            </p:nvSpPr>
            <p:spPr>
              <a:xfrm>
                <a:off x="7048500" y="2114550"/>
                <a:ext cx="9525" cy="3105150"/>
              </a:xfrm>
              <a:custGeom>
                <a:avLst/>
                <a:gdLst/>
                <a:ahLst/>
                <a:cxnLst/>
                <a:rect l="l" t="t" r="r" b="b"/>
                <a:pathLst>
                  <a:path w="9525" h="3105150">
                    <a:moveTo>
                      <a:pt x="0" y="0"/>
                    </a:moveTo>
                    <a:lnTo>
                      <a:pt x="0" y="3105150"/>
                    </a:lnTo>
                  </a:path>
                </a:pathLst>
              </a:custGeom>
              <a:noFill/>
              <a:ln w="9525">
                <a:solidFill>
                  <a:srgbClr val="CEDBE1"/>
                </a:solidFill>
              </a:ln>
            </p:spPr>
          </p:sp>
          <p:sp>
            <p:nvSpPr>
              <p:cNvPr id="10" name="Ellipse 10"/>
              <p:cNvSpPr/>
              <p:nvPr/>
            </p:nvSpPr>
            <p:spPr>
              <a:xfrm>
                <a:off x="5804726" y="2219325"/>
                <a:ext cx="133350" cy="133350"/>
              </a:xfrm>
              <a:prstGeom prst="ellipse">
                <a:avLst/>
              </a:prstGeom>
              <a:solidFill>
                <a:schemeClr val="accent2"/>
              </a:solidFill>
              <a:ln>
                <a:noFill/>
              </a:ln>
            </p:spPr>
          </p:sp>
          <p:sp>
            <p:nvSpPr>
              <p:cNvPr id="11" name="Ellipse 11"/>
              <p:cNvSpPr/>
              <p:nvPr/>
            </p:nvSpPr>
            <p:spPr>
              <a:xfrm>
                <a:off x="4907470" y="2676525"/>
                <a:ext cx="133350" cy="133350"/>
              </a:xfrm>
              <a:prstGeom prst="ellipse">
                <a:avLst/>
              </a:prstGeom>
              <a:solidFill>
                <a:schemeClr val="accent2"/>
              </a:solidFill>
              <a:ln>
                <a:noFill/>
              </a:ln>
            </p:spPr>
          </p:sp>
          <p:sp>
            <p:nvSpPr>
              <p:cNvPr id="12" name="Ellipse 12"/>
              <p:cNvSpPr/>
              <p:nvPr/>
            </p:nvSpPr>
            <p:spPr>
              <a:xfrm>
                <a:off x="3586639" y="3133725"/>
                <a:ext cx="133350" cy="133350"/>
              </a:xfrm>
              <a:prstGeom prst="ellipse">
                <a:avLst/>
              </a:prstGeom>
              <a:solidFill>
                <a:schemeClr val="accent2"/>
              </a:solidFill>
              <a:ln>
                <a:noFill/>
              </a:ln>
            </p:spPr>
          </p:sp>
          <p:sp>
            <p:nvSpPr>
              <p:cNvPr id="13" name="Ellipse 13"/>
              <p:cNvSpPr/>
              <p:nvPr/>
            </p:nvSpPr>
            <p:spPr>
              <a:xfrm>
                <a:off x="5527262" y="3590925"/>
                <a:ext cx="133350" cy="133350"/>
              </a:xfrm>
              <a:prstGeom prst="ellipse">
                <a:avLst/>
              </a:prstGeom>
              <a:solidFill>
                <a:schemeClr val="accent2"/>
              </a:solidFill>
              <a:ln>
                <a:noFill/>
              </a:ln>
            </p:spPr>
          </p:sp>
          <p:sp>
            <p:nvSpPr>
              <p:cNvPr id="14" name="Ellipse 14"/>
              <p:cNvSpPr/>
              <p:nvPr/>
            </p:nvSpPr>
            <p:spPr>
              <a:xfrm>
                <a:off x="4350830" y="4048125"/>
                <a:ext cx="133350" cy="133350"/>
              </a:xfrm>
              <a:prstGeom prst="ellipse">
                <a:avLst/>
              </a:prstGeom>
              <a:solidFill>
                <a:schemeClr val="accent2"/>
              </a:solidFill>
              <a:ln>
                <a:noFill/>
              </a:ln>
            </p:spPr>
          </p:sp>
          <p:sp>
            <p:nvSpPr>
              <p:cNvPr id="15" name="Ellipse 15"/>
              <p:cNvSpPr/>
              <p:nvPr/>
            </p:nvSpPr>
            <p:spPr>
              <a:xfrm>
                <a:off x="4998053" y="4505325"/>
                <a:ext cx="133350" cy="133350"/>
              </a:xfrm>
              <a:prstGeom prst="ellipse">
                <a:avLst/>
              </a:prstGeom>
              <a:solidFill>
                <a:schemeClr val="accent2"/>
              </a:solidFill>
              <a:ln>
                <a:noFill/>
              </a:ln>
            </p:spPr>
          </p:sp>
          <p:sp>
            <p:nvSpPr>
              <p:cNvPr id="16" name="Ellipse 16"/>
              <p:cNvSpPr/>
              <p:nvPr/>
            </p:nvSpPr>
            <p:spPr>
              <a:xfrm>
                <a:off x="6426041" y="4943475"/>
                <a:ext cx="171450" cy="171450"/>
              </a:xfrm>
              <a:prstGeom prst="ellipse">
                <a:avLst/>
              </a:prstGeom>
              <a:solidFill>
                <a:schemeClr val="accent2"/>
              </a:solidFill>
              <a:ln>
                <a:noFill/>
              </a:ln>
            </p:spPr>
          </p:sp>
          <p:sp>
            <p:nvSpPr>
              <p:cNvPr id="17" name="TextBox 17"/>
              <p:cNvSpPr txBox="1"/>
              <p:nvPr/>
            </p:nvSpPr>
            <p:spPr>
              <a:xfrm>
                <a:off x="813435" y="2151698"/>
                <a:ext cx="282321"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n-lt"/>
                    <a:ea typeface="+mn-ea"/>
                    <a:cs typeface="+mn-cs"/>
                  </a:rPr>
                  <a:t>镧</a:t>
                </a:r>
              </a:p>
            </p:txBody>
          </p:sp>
          <p:sp>
            <p:nvSpPr>
              <p:cNvPr id="18" name="TextBox 18"/>
              <p:cNvSpPr txBox="1"/>
              <p:nvPr/>
            </p:nvSpPr>
            <p:spPr>
              <a:xfrm>
                <a:off x="813435" y="2608898"/>
                <a:ext cx="282321"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n-lt"/>
                    <a:ea typeface="+mn-ea"/>
                    <a:cs typeface="+mn-cs"/>
                  </a:rPr>
                  <a:t>铈</a:t>
                </a:r>
              </a:p>
            </p:txBody>
          </p:sp>
          <p:sp>
            <p:nvSpPr>
              <p:cNvPr id="19" name="TextBox 19"/>
              <p:cNvSpPr txBox="1"/>
              <p:nvPr/>
            </p:nvSpPr>
            <p:spPr>
              <a:xfrm>
                <a:off x="813435" y="3066098"/>
                <a:ext cx="282321"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n-lt"/>
                    <a:ea typeface="+mn-ea"/>
                    <a:cs typeface="+mn-cs"/>
                  </a:rPr>
                  <a:t>镨</a:t>
                </a:r>
              </a:p>
            </p:txBody>
          </p:sp>
          <p:sp>
            <p:nvSpPr>
              <p:cNvPr id="20" name="TextBox 20"/>
              <p:cNvSpPr txBox="1"/>
              <p:nvPr/>
            </p:nvSpPr>
            <p:spPr>
              <a:xfrm>
                <a:off x="813435" y="3523298"/>
                <a:ext cx="282321"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n-lt"/>
                    <a:ea typeface="+mn-ea"/>
                    <a:cs typeface="+mn-cs"/>
                  </a:rPr>
                  <a:t>钕</a:t>
                </a:r>
              </a:p>
            </p:txBody>
          </p:sp>
          <p:sp>
            <p:nvSpPr>
              <p:cNvPr id="21" name="TextBox 21"/>
              <p:cNvSpPr txBox="1"/>
              <p:nvPr/>
            </p:nvSpPr>
            <p:spPr>
              <a:xfrm>
                <a:off x="813435" y="3980498"/>
                <a:ext cx="282321"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n-lt"/>
                    <a:ea typeface="+mn-ea"/>
                    <a:cs typeface="+mn-cs"/>
                  </a:rPr>
                  <a:t>钐</a:t>
                </a:r>
              </a:p>
            </p:txBody>
          </p:sp>
          <p:sp>
            <p:nvSpPr>
              <p:cNvPr id="22" name="TextBox 22"/>
              <p:cNvSpPr txBox="1"/>
              <p:nvPr/>
            </p:nvSpPr>
            <p:spPr>
              <a:xfrm>
                <a:off x="813435" y="4437698"/>
                <a:ext cx="282321"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n-lt"/>
                    <a:ea typeface="+mn-ea"/>
                    <a:cs typeface="+mn-cs"/>
                  </a:rPr>
                  <a:t>铕</a:t>
                </a:r>
              </a:p>
            </p:txBody>
          </p:sp>
          <p:sp>
            <p:nvSpPr>
              <p:cNvPr id="23" name="TextBox 23"/>
              <p:cNvSpPr txBox="1"/>
              <p:nvPr/>
            </p:nvSpPr>
            <p:spPr>
              <a:xfrm>
                <a:off x="813435" y="4894898"/>
                <a:ext cx="282321"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n-lt"/>
                    <a:ea typeface="+mn-ea"/>
                    <a:cs typeface="+mn-cs"/>
                  </a:rPr>
                  <a:t>钆</a:t>
                </a:r>
              </a:p>
            </p:txBody>
          </p:sp>
          <p:sp>
            <p:nvSpPr>
              <p:cNvPr id="24" name="TextBox 24"/>
              <p:cNvSpPr txBox="1"/>
              <p:nvPr/>
            </p:nvSpPr>
            <p:spPr>
              <a:xfrm>
                <a:off x="6002655" y="2190750"/>
                <a:ext cx="45948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2353</a:t>
                </a:r>
              </a:p>
            </p:txBody>
          </p:sp>
          <p:sp>
            <p:nvSpPr>
              <p:cNvPr id="25" name="TextBox 25"/>
              <p:cNvSpPr txBox="1"/>
              <p:nvPr/>
            </p:nvSpPr>
            <p:spPr>
              <a:xfrm>
                <a:off x="5107305" y="2647950"/>
                <a:ext cx="34842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781</a:t>
                </a:r>
              </a:p>
            </p:txBody>
          </p:sp>
          <p:sp>
            <p:nvSpPr>
              <p:cNvPr id="26" name="TextBox 26"/>
              <p:cNvSpPr txBox="1"/>
              <p:nvPr/>
            </p:nvSpPr>
            <p:spPr>
              <a:xfrm>
                <a:off x="3792855" y="3105150"/>
                <a:ext cx="34842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154</a:t>
                </a:r>
              </a:p>
            </p:txBody>
          </p:sp>
          <p:sp>
            <p:nvSpPr>
              <p:cNvPr id="27" name="TextBox 27"/>
              <p:cNvSpPr txBox="1"/>
              <p:nvPr/>
            </p:nvSpPr>
            <p:spPr>
              <a:xfrm>
                <a:off x="5735955" y="3562350"/>
                <a:ext cx="45948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1673</a:t>
                </a:r>
              </a:p>
            </p:txBody>
          </p:sp>
          <p:sp>
            <p:nvSpPr>
              <p:cNvPr id="28" name="TextBox 28"/>
              <p:cNvSpPr txBox="1"/>
              <p:nvPr/>
            </p:nvSpPr>
            <p:spPr>
              <a:xfrm>
                <a:off x="4554855" y="4019550"/>
                <a:ext cx="34842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394</a:t>
                </a:r>
              </a:p>
            </p:txBody>
          </p:sp>
          <p:sp>
            <p:nvSpPr>
              <p:cNvPr id="29" name="TextBox 29"/>
              <p:cNvSpPr txBox="1"/>
              <p:nvPr/>
            </p:nvSpPr>
            <p:spPr>
              <a:xfrm>
                <a:off x="5202555" y="4476750"/>
                <a:ext cx="34842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873</a:t>
                </a:r>
              </a:p>
            </p:txBody>
          </p:sp>
          <p:sp>
            <p:nvSpPr>
              <p:cNvPr id="30" name="TextBox 30"/>
              <p:cNvSpPr txBox="1"/>
              <p:nvPr/>
            </p:nvSpPr>
            <p:spPr>
              <a:xfrm>
                <a:off x="6650355" y="4933950"/>
                <a:ext cx="481698" cy="293370"/>
              </a:xfrm>
              <a:prstGeom prst="rect">
                <a:avLst/>
              </a:prstGeom>
              <a:noFill/>
              <a:ln>
                <a:noFill/>
              </a:ln>
            </p:spPr>
            <p:txBody>
              <a:bodyPr wrap="none" lIns="0" tIns="0" rIns="0" bIns="0" anchor="t" anchorCtr="0">
                <a:spAutoFit/>
              </a:bodyPr>
              <a:lstStyle/>
              <a:p>
                <a:pPr algn="l"/>
                <a:r>
                  <a:rPr lang="zh-CN" sz="1500" b="1" dirty="0">
                    <a:solidFill>
                      <a:schemeClr val="accent2"/>
                    </a:solidFill>
                    <a:latin typeface="+mn-lt"/>
                    <a:ea typeface="+mn-ea"/>
                    <a:cs typeface="+mn-cs"/>
                  </a:rPr>
                  <a:t>5170</a:t>
                </a:r>
              </a:p>
            </p:txBody>
          </p:sp>
          <p:sp>
            <p:nvSpPr>
              <p:cNvPr id="31" name="TextBox 31"/>
              <p:cNvSpPr txBox="1"/>
              <p:nvPr/>
            </p:nvSpPr>
            <p:spPr>
              <a:xfrm>
                <a:off x="1254538" y="5372100"/>
                <a:ext cx="348425" cy="293370"/>
              </a:xfrm>
              <a:prstGeom prst="rect">
                <a:avLst/>
              </a:prstGeom>
              <a:noFill/>
              <a:ln>
                <a:noFill/>
              </a:ln>
            </p:spPr>
            <p:txBody>
              <a:bodyPr wrap="none" lIns="0" tIns="0" rIns="0" bIns="0" anchor="t" anchorCtr="0">
                <a:spAutoFit/>
              </a:bodyPr>
              <a:lstStyle/>
              <a:p>
                <a:pPr algn="ctr"/>
                <a:r>
                  <a:rPr lang="zh-CN" sz="1500" dirty="0">
                    <a:solidFill>
                      <a:schemeClr val="accent6"/>
                    </a:solidFill>
                    <a:latin typeface="+mn-lt"/>
                    <a:ea typeface="+mn-ea"/>
                    <a:cs typeface="+mn-cs"/>
                  </a:rPr>
                  <a:t>10¹</a:t>
                </a:r>
              </a:p>
            </p:txBody>
          </p:sp>
          <p:sp>
            <p:nvSpPr>
              <p:cNvPr id="32" name="TextBox 32"/>
              <p:cNvSpPr txBox="1"/>
              <p:nvPr/>
            </p:nvSpPr>
            <p:spPr>
              <a:xfrm>
                <a:off x="3127820" y="5372100"/>
                <a:ext cx="348425" cy="293370"/>
              </a:xfrm>
              <a:prstGeom prst="rect">
                <a:avLst/>
              </a:prstGeom>
              <a:noFill/>
              <a:ln>
                <a:noFill/>
              </a:ln>
            </p:spPr>
            <p:txBody>
              <a:bodyPr wrap="none" lIns="0" tIns="0" rIns="0" bIns="0" anchor="t" anchorCtr="0">
                <a:spAutoFit/>
              </a:bodyPr>
              <a:lstStyle/>
              <a:p>
                <a:pPr algn="ctr"/>
                <a:r>
                  <a:rPr lang="zh-CN" sz="1500" dirty="0">
                    <a:solidFill>
                      <a:schemeClr val="accent6"/>
                    </a:solidFill>
                    <a:latin typeface="+mn-lt"/>
                    <a:ea typeface="+mn-ea"/>
                    <a:cs typeface="+mn-cs"/>
                  </a:rPr>
                  <a:t>10²</a:t>
                </a:r>
              </a:p>
            </p:txBody>
          </p:sp>
          <p:sp>
            <p:nvSpPr>
              <p:cNvPr id="33" name="TextBox 33"/>
              <p:cNvSpPr txBox="1"/>
              <p:nvPr/>
            </p:nvSpPr>
            <p:spPr>
              <a:xfrm>
                <a:off x="5001006" y="5372100"/>
                <a:ext cx="348425" cy="293370"/>
              </a:xfrm>
              <a:prstGeom prst="rect">
                <a:avLst/>
              </a:prstGeom>
              <a:noFill/>
              <a:ln>
                <a:noFill/>
              </a:ln>
            </p:spPr>
            <p:txBody>
              <a:bodyPr wrap="none" lIns="0" tIns="0" rIns="0" bIns="0" anchor="t" anchorCtr="0">
                <a:spAutoFit/>
              </a:bodyPr>
              <a:lstStyle/>
              <a:p>
                <a:pPr algn="ctr"/>
                <a:r>
                  <a:rPr lang="zh-CN" sz="1500" dirty="0">
                    <a:solidFill>
                      <a:schemeClr val="accent6"/>
                    </a:solidFill>
                    <a:latin typeface="+mn-lt"/>
                    <a:ea typeface="+mn-ea"/>
                    <a:cs typeface="+mn-cs"/>
                  </a:rPr>
                  <a:t>10³</a:t>
                </a:r>
              </a:p>
            </p:txBody>
          </p:sp>
          <p:sp>
            <p:nvSpPr>
              <p:cNvPr id="34" name="TextBox 34"/>
              <p:cNvSpPr txBox="1"/>
              <p:nvPr/>
            </p:nvSpPr>
            <p:spPr>
              <a:xfrm>
                <a:off x="6874288" y="5372100"/>
                <a:ext cx="348425" cy="293370"/>
              </a:xfrm>
              <a:prstGeom prst="rect">
                <a:avLst/>
              </a:prstGeom>
              <a:noFill/>
              <a:ln>
                <a:noFill/>
              </a:ln>
            </p:spPr>
            <p:txBody>
              <a:bodyPr wrap="none" lIns="0" tIns="0" rIns="0" bIns="0" anchor="t" anchorCtr="0">
                <a:spAutoFit/>
              </a:bodyPr>
              <a:lstStyle/>
              <a:p>
                <a:pPr algn="ctr"/>
                <a:r>
                  <a:rPr lang="zh-CN" sz="1500" dirty="0">
                    <a:solidFill>
                      <a:schemeClr val="accent6"/>
                    </a:solidFill>
                    <a:latin typeface="+mn-lt"/>
                    <a:ea typeface="+mn-ea"/>
                    <a:cs typeface="+mn-cs"/>
                  </a:rPr>
                  <a:t>10⁴</a:t>
                </a:r>
              </a:p>
            </p:txBody>
          </p:sp>
        </p:grpSp>
      </p:grpSp>
      <p:grpSp>
        <p:nvGrpSpPr>
          <p:cNvPr id="45" name="Group 45"/>
          <p:cNvGrpSpPr/>
          <p:nvPr/>
        </p:nvGrpSpPr>
        <p:grpSpPr>
          <a:xfrm>
            <a:off x="7698486" y="1685925"/>
            <a:ext cx="3960114" cy="3980878"/>
            <a:chOff x="7698486" y="1685925"/>
            <a:chExt cx="3960114" cy="3980878"/>
          </a:xfrm>
        </p:grpSpPr>
        <p:sp>
          <p:nvSpPr>
            <p:cNvPr id="37" name="TextBox 37"/>
            <p:cNvSpPr txBox="1"/>
            <p:nvPr/>
          </p:nvSpPr>
          <p:spPr>
            <a:xfrm>
              <a:off x="7707630" y="1685925"/>
              <a:ext cx="2233301"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SF = Kd(TRU) / Kd(Ln)</a:t>
              </a:r>
            </a:p>
          </p:txBody>
        </p:sp>
        <p:sp>
          <p:nvSpPr>
            <p:cNvPr id="38" name="TextBox 38"/>
            <p:cNvSpPr txBox="1"/>
            <p:nvPr/>
          </p:nvSpPr>
          <p:spPr>
            <a:xfrm>
              <a:off x="7698486" y="2234565"/>
              <a:ext cx="1059736" cy="645414"/>
            </a:xfrm>
            <a:prstGeom prst="rect">
              <a:avLst/>
            </a:prstGeom>
            <a:noFill/>
            <a:ln>
              <a:noFill/>
            </a:ln>
          </p:spPr>
          <p:txBody>
            <a:bodyPr wrap="none" lIns="0" tIns="0" rIns="0" bIns="0" anchor="t" anchorCtr="0">
              <a:spAutoFit/>
            </a:bodyPr>
            <a:lstStyle/>
            <a:p>
              <a:pPr algn="l"/>
              <a:r>
                <a:rPr lang="zh-CN" sz="3300" b="1" dirty="0">
                  <a:solidFill>
                    <a:schemeClr val="accent2"/>
                  </a:solidFill>
                  <a:latin typeface="+mn-lt"/>
                  <a:ea typeface="+mn-ea"/>
                  <a:cs typeface="+mn-cs"/>
                </a:rPr>
                <a:t>5170</a:t>
              </a:r>
            </a:p>
          </p:txBody>
        </p:sp>
        <p:sp>
          <p:nvSpPr>
            <p:cNvPr id="39" name="TextBox 39"/>
            <p:cNvSpPr txBox="1"/>
            <p:nvPr/>
          </p:nvSpPr>
          <p:spPr>
            <a:xfrm>
              <a:off x="7705344" y="2789872"/>
              <a:ext cx="1935385"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Np(V) / Gd(III)</a:t>
              </a:r>
            </a:p>
          </p:txBody>
        </p:sp>
        <p:sp>
          <p:nvSpPr>
            <p:cNvPr id="40" name="Line 40"/>
            <p:cNvSpPr/>
            <p:nvPr/>
          </p:nvSpPr>
          <p:spPr>
            <a:xfrm>
              <a:off x="7715250" y="3371850"/>
              <a:ext cx="3943350" cy="9525"/>
            </a:xfrm>
            <a:custGeom>
              <a:avLst/>
              <a:gdLst/>
              <a:ahLst/>
              <a:cxnLst/>
              <a:rect l="l" t="t" r="r" b="b"/>
              <a:pathLst>
                <a:path w="3943350" h="9525">
                  <a:moveTo>
                    <a:pt x="0" y="0"/>
                  </a:moveTo>
                  <a:lnTo>
                    <a:pt x="3943350" y="0"/>
                  </a:lnTo>
                </a:path>
              </a:pathLst>
            </a:custGeom>
            <a:noFill/>
            <a:ln w="19050">
              <a:solidFill>
                <a:srgbClr val="CEDBE1"/>
              </a:solidFill>
            </a:ln>
          </p:spPr>
        </p:sp>
        <p:sp>
          <p:nvSpPr>
            <p:cNvPr id="41" name="TextBox 41"/>
            <p:cNvSpPr txBox="1"/>
            <p:nvPr/>
          </p:nvSpPr>
          <p:spPr>
            <a:xfrm>
              <a:off x="7704582" y="3621405"/>
              <a:ext cx="2020646"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Pu / Ln：9–41</a:t>
              </a:r>
            </a:p>
          </p:txBody>
        </p:sp>
        <p:sp>
          <p:nvSpPr>
            <p:cNvPr id="42" name="TextBox 42"/>
            <p:cNvSpPr txBox="1"/>
            <p:nvPr/>
          </p:nvSpPr>
          <p:spPr>
            <a:xfrm>
              <a:off x="7704582" y="4173855"/>
              <a:ext cx="2081694"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Am / Ln：4–20</a:t>
              </a:r>
            </a:p>
          </p:txBody>
        </p:sp>
        <p:sp>
          <p:nvSpPr>
            <p:cNvPr id="43" name="TextBox 43"/>
            <p:cNvSpPr txBox="1"/>
            <p:nvPr/>
          </p:nvSpPr>
          <p:spPr>
            <a:xfrm>
              <a:off x="7705344" y="4885372"/>
              <a:ext cx="264490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去除率：能去除多少？</a:t>
              </a:r>
            </a:p>
          </p:txBody>
        </p:sp>
        <p:sp>
          <p:nvSpPr>
            <p:cNvPr id="44" name="TextBox 44"/>
            <p:cNvSpPr txBox="1"/>
            <p:nvPr/>
          </p:nvSpPr>
          <p:spPr>
            <a:xfrm>
              <a:off x="7705344" y="5285422"/>
              <a:ext cx="264490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选择性：优先去除谁？</a:t>
              </a:r>
            </a:p>
          </p:txBody>
        </p:sp>
      </p:grpSp>
      <p:grpSp>
        <p:nvGrpSpPr>
          <p:cNvPr id="48" name="Group 48"/>
          <p:cNvGrpSpPr/>
          <p:nvPr/>
        </p:nvGrpSpPr>
        <p:grpSpPr>
          <a:xfrm>
            <a:off x="527304" y="5861685"/>
            <a:ext cx="6384735" cy="434721"/>
            <a:chOff x="527304" y="5861685"/>
            <a:chExt cx="6384735" cy="434721"/>
          </a:xfrm>
        </p:grpSpPr>
        <p:sp>
          <p:nvSpPr>
            <p:cNvPr id="46" name="TextBox 46"/>
            <p:cNvSpPr txBox="1"/>
            <p:nvPr/>
          </p:nvSpPr>
          <p:spPr>
            <a:xfrm>
              <a:off x="527304" y="5861685"/>
              <a:ext cx="4711283"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横轴为对数尺度；Np、Pu：0.5 M HNO₃；Am：0.01 M HNO₃。</a:t>
              </a:r>
            </a:p>
          </p:txBody>
        </p:sp>
        <p:sp>
          <p:nvSpPr>
            <p:cNvPr id="47" name="TextBox 47"/>
            <p:cNvSpPr txBox="1"/>
            <p:nvPr/>
          </p:nvSpPr>
          <p:spPr>
            <a:xfrm>
              <a:off x="527304" y="6061710"/>
              <a:ext cx="6384735"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TRU/Ln 浓度比 1:1；5 mg / 2 mL，25°C，1 h。右侧 Pu、Am 为各 Ln 对照下的范围。</a:t>
              </a:r>
            </a:p>
          </p:txBody>
        </p:sp>
      </p:grpSp>
      <p:grpSp>
        <p:nvGrpSpPr>
          <p:cNvPr id="52" name="Group 52"/>
          <p:cNvGrpSpPr/>
          <p:nvPr/>
        </p:nvGrpSpPr>
        <p:grpSpPr>
          <a:xfrm>
            <a:off x="527304" y="6305550"/>
            <a:ext cx="11137392" cy="371856"/>
            <a:chOff x="527304" y="6305550"/>
            <a:chExt cx="11137392" cy="371856"/>
          </a:xfrm>
        </p:grpSpPr>
        <p:sp>
          <p:nvSpPr>
            <p:cNvPr id="49" name="Line 49"/>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rgbClr val="CEDBE1"/>
              </a:solidFill>
            </a:ln>
          </p:spPr>
        </p:sp>
        <p:sp>
          <p:nvSpPr>
            <p:cNvPr id="50" name="TextBox 50"/>
            <p:cNvSpPr txBox="1"/>
            <p:nvPr/>
          </p:nvSpPr>
          <p:spPr>
            <a:xfrm>
              <a:off x="527304" y="6442710"/>
              <a:ext cx="4626529"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数据来源：§2.2、Figure 4d–f、Figure 5a · 依据正文数值重绘</a:t>
              </a:r>
            </a:p>
          </p:txBody>
        </p:sp>
        <p:sp>
          <p:nvSpPr>
            <p:cNvPr id="51" name="TextBox 51"/>
            <p:cNvSpPr txBox="1"/>
            <p:nvPr/>
          </p:nvSpPr>
          <p:spPr>
            <a:xfrm>
              <a:off x="11111332" y="6442710"/>
              <a:ext cx="55336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07 / 12</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8922" y="361950"/>
            <a:ext cx="7280262" cy="945071"/>
            <a:chOff x="518922" y="361950"/>
            <a:chExt cx="7280262" cy="945071"/>
          </a:xfrm>
        </p:grpSpPr>
        <p:sp>
          <p:nvSpPr>
            <p:cNvPr id="2" name="TextBox 2"/>
            <p:cNvSpPr txBox="1"/>
            <p:nvPr/>
          </p:nvSpPr>
          <p:spPr>
            <a:xfrm>
              <a:off x="525780" y="361950"/>
              <a:ext cx="1883093" cy="293370"/>
            </a:xfrm>
            <a:prstGeom prst="rect">
              <a:avLst/>
            </a:prstGeom>
            <a:noFill/>
            <a:ln>
              <a:noFill/>
            </a:ln>
          </p:spPr>
          <p:txBody>
            <a:bodyPr wrap="none" lIns="0" tIns="0" rIns="0" bIns="0" anchor="t" anchorCtr="0">
              <a:spAutoFit/>
            </a:bodyPr>
            <a:lstStyle/>
            <a:p>
              <a:pPr algn="l"/>
              <a:r>
                <a:rPr lang="zh-CN" sz="1500" dirty="0">
                  <a:solidFill>
                    <a:schemeClr val="accent2"/>
                  </a:solidFill>
                  <a:latin typeface="+mn-lt"/>
                  <a:ea typeface="+mn-ea"/>
                  <a:cs typeface="+mn-cs"/>
                </a:rPr>
                <a:t>07 / 性能的适用边界</a:t>
              </a:r>
            </a:p>
          </p:txBody>
        </p:sp>
        <p:sp>
          <p:nvSpPr>
            <p:cNvPr id="3" name="TextBox 3"/>
            <p:cNvSpPr txBox="1"/>
            <p:nvPr/>
          </p:nvSpPr>
          <p:spPr>
            <a:xfrm>
              <a:off x="518922" y="749618"/>
              <a:ext cx="7280262"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快速吸附值得关注，工程适用性仍需验证</a:t>
              </a:r>
            </a:p>
          </p:txBody>
        </p:sp>
      </p:grpSp>
      <p:grpSp>
        <p:nvGrpSpPr>
          <p:cNvPr id="10" name="Group 10"/>
          <p:cNvGrpSpPr/>
          <p:nvPr/>
        </p:nvGrpSpPr>
        <p:grpSpPr>
          <a:xfrm>
            <a:off x="514350" y="2065020"/>
            <a:ext cx="3055620" cy="2771775"/>
            <a:chOff x="514350" y="2065020"/>
            <a:chExt cx="3055620" cy="2771775"/>
          </a:xfrm>
        </p:grpSpPr>
        <p:sp>
          <p:nvSpPr>
            <p:cNvPr id="5" name="TextBox 5"/>
            <p:cNvSpPr txBox="1"/>
            <p:nvPr/>
          </p:nvSpPr>
          <p:spPr>
            <a:xfrm>
              <a:off x="514350" y="2065020"/>
              <a:ext cx="2327986"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20 min</a:t>
              </a:r>
            </a:p>
          </p:txBody>
        </p:sp>
        <p:sp>
          <p:nvSpPr>
            <p:cNvPr id="6" name="TextBox 6"/>
            <p:cNvSpPr txBox="1"/>
            <p:nvPr/>
          </p:nvSpPr>
          <p:spPr>
            <a:xfrm>
              <a:off x="521970" y="2976562"/>
              <a:ext cx="2567178"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以内达到吸附平衡</a:t>
              </a:r>
            </a:p>
          </p:txBody>
        </p:sp>
        <p:sp>
          <p:nvSpPr>
            <p:cNvPr id="7" name="TextBox 7"/>
            <p:cNvSpPr txBox="1"/>
            <p:nvPr/>
          </p:nvSpPr>
          <p:spPr>
            <a:xfrm>
              <a:off x="523494" y="3580448"/>
              <a:ext cx="2382393"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实验采用涡旋振荡。</a:t>
              </a:r>
            </a:p>
          </p:txBody>
        </p:sp>
        <p:sp>
          <p:nvSpPr>
            <p:cNvPr id="8" name="TextBox 8"/>
            <p:cNvSpPr txBox="1"/>
            <p:nvPr/>
          </p:nvSpPr>
          <p:spPr>
            <a:xfrm>
              <a:off x="525780" y="4200525"/>
              <a:ext cx="3044190"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已测：混合条件下的吸附动力学。</a:t>
              </a:r>
            </a:p>
          </p:txBody>
        </p:sp>
        <p:sp>
          <p:nvSpPr>
            <p:cNvPr id="9" name="TextBox 9"/>
            <p:cNvSpPr txBox="1"/>
            <p:nvPr/>
          </p:nvSpPr>
          <p:spPr>
            <a:xfrm>
              <a:off x="525780" y="4543425"/>
              <a:ext cx="2438400"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非指：固定床的穿透时间。</a:t>
              </a:r>
            </a:p>
          </p:txBody>
        </p:sp>
      </p:grpSp>
      <p:grpSp>
        <p:nvGrpSpPr>
          <p:cNvPr id="19" name="Group 19"/>
          <p:cNvGrpSpPr/>
          <p:nvPr/>
        </p:nvGrpSpPr>
        <p:grpSpPr>
          <a:xfrm>
            <a:off x="5105400" y="1676400"/>
            <a:ext cx="5116068" cy="4076700"/>
            <a:chOff x="5105400" y="1676400"/>
            <a:chExt cx="5116068" cy="4076700"/>
          </a:xfrm>
        </p:grpSpPr>
        <p:sp>
          <p:nvSpPr>
            <p:cNvPr id="11" name="Line 11"/>
            <p:cNvSpPr/>
            <p:nvPr/>
          </p:nvSpPr>
          <p:spPr>
            <a:xfrm>
              <a:off x="5105400" y="1676400"/>
              <a:ext cx="9525" cy="4076700"/>
            </a:xfrm>
            <a:custGeom>
              <a:avLst/>
              <a:gdLst/>
              <a:ahLst/>
              <a:cxnLst/>
              <a:rect l="l" t="t" r="r" b="b"/>
              <a:pathLst>
                <a:path w="9525" h="4076700">
                  <a:moveTo>
                    <a:pt x="0" y="0"/>
                  </a:moveTo>
                  <a:lnTo>
                    <a:pt x="0" y="4076700"/>
                  </a:lnTo>
                </a:path>
              </a:pathLst>
            </a:custGeom>
            <a:noFill/>
            <a:ln w="19050">
              <a:solidFill>
                <a:srgbClr val="CEDBE1"/>
              </a:solidFill>
            </a:ln>
          </p:spPr>
        </p:sp>
        <p:sp>
          <p:nvSpPr>
            <p:cNvPr id="12" name="TextBox 12"/>
            <p:cNvSpPr txBox="1"/>
            <p:nvPr/>
          </p:nvSpPr>
          <p:spPr>
            <a:xfrm>
              <a:off x="5475732" y="1878330"/>
              <a:ext cx="2396033"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酸度改变配位条件</a:t>
              </a:r>
            </a:p>
          </p:txBody>
        </p:sp>
        <p:sp>
          <p:nvSpPr>
            <p:cNvPr id="13" name="TextBox 13"/>
            <p:cNvSpPr txBox="1"/>
            <p:nvPr/>
          </p:nvSpPr>
          <p:spPr>
            <a:xfrm>
              <a:off x="5476494" y="2323148"/>
              <a:ext cx="4416095"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N 位点质子化，通常降低吸附能力。</a:t>
              </a:r>
            </a:p>
          </p:txBody>
        </p:sp>
        <p:sp>
          <p:nvSpPr>
            <p:cNvPr id="14" name="TextBox 14"/>
            <p:cNvSpPr txBox="1"/>
            <p:nvPr/>
          </p:nvSpPr>
          <p:spPr>
            <a:xfrm>
              <a:off x="5475732" y="3154680"/>
              <a:ext cx="2396033"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指标不能相互替代</a:t>
              </a:r>
            </a:p>
          </p:txBody>
        </p:sp>
        <p:sp>
          <p:nvSpPr>
            <p:cNvPr id="15" name="TextBox 15"/>
            <p:cNvSpPr txBox="1"/>
            <p:nvPr/>
          </p:nvSpPr>
          <p:spPr>
            <a:xfrm>
              <a:off x="5476494" y="3599498"/>
              <a:ext cx="4744974"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去除率、分配系数、饱和容量各有含义。</a:t>
              </a:r>
            </a:p>
          </p:txBody>
        </p:sp>
        <p:sp>
          <p:nvSpPr>
            <p:cNvPr id="16" name="TextBox 16"/>
            <p:cNvSpPr txBox="1"/>
            <p:nvPr/>
          </p:nvSpPr>
          <p:spPr>
            <a:xfrm>
              <a:off x="5476494" y="3999548"/>
              <a:ext cx="3169920"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痕量实验不能推出高载量。</a:t>
              </a:r>
            </a:p>
          </p:txBody>
        </p:sp>
        <p:sp>
          <p:nvSpPr>
            <p:cNvPr id="17" name="TextBox 17"/>
            <p:cNvSpPr txBox="1"/>
            <p:nvPr/>
          </p:nvSpPr>
          <p:spPr>
            <a:xfrm>
              <a:off x="5475732" y="4792980"/>
              <a:ext cx="3034233" cy="410718"/>
            </a:xfrm>
            <a:prstGeom prst="rect">
              <a:avLst/>
            </a:prstGeom>
            <a:noFill/>
            <a:ln>
              <a:noFill/>
            </a:ln>
          </p:spPr>
          <p:txBody>
            <a:bodyPr wrap="none" lIns="0" tIns="0" rIns="0" bIns="0" anchor="t" anchorCtr="0">
              <a:spAutoFit/>
            </a:bodyPr>
            <a:lstStyle/>
            <a:p>
              <a:pPr algn="l"/>
              <a:r>
                <a:rPr lang="zh-CN" sz="2100" b="1" dirty="0">
                  <a:solidFill>
                    <a:schemeClr val="accent3"/>
                  </a:solidFill>
                  <a:latin typeface="+mn-lt"/>
                  <a:ea typeface="+mn-ea"/>
                  <a:cs typeface="+mn-cs"/>
                </a:rPr>
                <a:t>结构稳定 ≠ 工艺已验证</a:t>
              </a:r>
            </a:p>
          </p:txBody>
        </p:sp>
        <p:sp>
          <p:nvSpPr>
            <p:cNvPr id="18" name="TextBox 18"/>
            <p:cNvSpPr txBox="1"/>
            <p:nvPr/>
          </p:nvSpPr>
          <p:spPr>
            <a:xfrm>
              <a:off x="5476494" y="5237798"/>
              <a:ext cx="3957447"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耐酸、耐辐照不等于长期选择性。</a:t>
              </a:r>
            </a:p>
          </p:txBody>
        </p:sp>
      </p:grpSp>
      <p:grpSp>
        <p:nvGrpSpPr>
          <p:cNvPr id="23" name="Group 23"/>
          <p:cNvGrpSpPr/>
          <p:nvPr/>
        </p:nvGrpSpPr>
        <p:grpSpPr>
          <a:xfrm>
            <a:off x="527304" y="6305550"/>
            <a:ext cx="11137392" cy="371856"/>
            <a:chOff x="527304" y="6305550"/>
            <a:chExt cx="11137392" cy="371856"/>
          </a:xfrm>
        </p:grpSpPr>
        <p:sp>
          <p:nvSpPr>
            <p:cNvPr id="20" name="Line 20"/>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rgbClr val="CEDBE1"/>
              </a:solidFill>
            </a:ln>
          </p:spPr>
        </p:sp>
        <p:sp>
          <p:nvSpPr>
            <p:cNvPr id="21" name="TextBox 21"/>
            <p:cNvSpPr txBox="1"/>
            <p:nvPr/>
          </p:nvSpPr>
          <p:spPr>
            <a:xfrm>
              <a:off x="527304" y="6442710"/>
              <a:ext cx="4953152"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来源：§2.1–2.2、Figure 4；边界辨析为依据实验条件的汇报者评价</a:t>
              </a:r>
            </a:p>
          </p:txBody>
        </p:sp>
        <p:sp>
          <p:nvSpPr>
            <p:cNvPr id="22" name="TextBox 22"/>
            <p:cNvSpPr txBox="1"/>
            <p:nvPr/>
          </p:nvSpPr>
          <p:spPr>
            <a:xfrm>
              <a:off x="11111332" y="6442710"/>
              <a:ext cx="55336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08 / 12</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8922" y="361950"/>
            <a:ext cx="8222780" cy="945071"/>
            <a:chOff x="518922" y="361950"/>
            <a:chExt cx="8222780" cy="945071"/>
          </a:xfrm>
        </p:grpSpPr>
        <p:sp>
          <p:nvSpPr>
            <p:cNvPr id="2" name="TextBox 2"/>
            <p:cNvSpPr txBox="1"/>
            <p:nvPr/>
          </p:nvSpPr>
          <p:spPr>
            <a:xfrm>
              <a:off x="525780" y="361950"/>
              <a:ext cx="1883093" cy="293370"/>
            </a:xfrm>
            <a:prstGeom prst="rect">
              <a:avLst/>
            </a:prstGeom>
            <a:noFill/>
            <a:ln>
              <a:noFill/>
            </a:ln>
          </p:spPr>
          <p:txBody>
            <a:bodyPr wrap="none" lIns="0" tIns="0" rIns="0" bIns="0" anchor="t" anchorCtr="0">
              <a:spAutoFit/>
            </a:bodyPr>
            <a:lstStyle/>
            <a:p>
              <a:pPr algn="l"/>
              <a:r>
                <a:rPr lang="zh-CN" sz="1500" dirty="0">
                  <a:solidFill>
                    <a:schemeClr val="accent2"/>
                  </a:solidFill>
                  <a:latin typeface="+mn-lt"/>
                  <a:ea typeface="+mn-ea"/>
                  <a:cs typeface="+mn-cs"/>
                </a:rPr>
                <a:t>08 / 机制证据：谱学</a:t>
              </a:r>
            </a:p>
          </p:txBody>
        </p:sp>
        <p:sp>
          <p:nvSpPr>
            <p:cNvPr id="3" name="TextBox 3"/>
            <p:cNvSpPr txBox="1"/>
            <p:nvPr/>
          </p:nvSpPr>
          <p:spPr>
            <a:xfrm>
              <a:off x="518922" y="749618"/>
              <a:ext cx="8222780"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谱学支持 N/O 参与配位，但使用的是 U(VI)</a:t>
              </a:r>
            </a:p>
          </p:txBody>
        </p:sp>
      </p:grpSp>
      <p:grpSp>
        <p:nvGrpSpPr>
          <p:cNvPr id="7" name="Group 7"/>
          <p:cNvGrpSpPr/>
          <p:nvPr/>
        </p:nvGrpSpPr>
        <p:grpSpPr>
          <a:xfrm>
            <a:off x="525780" y="1685925"/>
            <a:ext cx="6675120" cy="3989070"/>
            <a:chOff x="525780" y="1685925"/>
            <a:chExt cx="6675120" cy="3989070"/>
          </a:xfrm>
        </p:grpSpPr>
        <p:pic>
          <p:nvPicPr>
            <p:cNvPr id="5" name="Image 5"/>
            <p:cNvPicPr>
              <a:picLocks noChangeAspect="1"/>
            </p:cNvPicPr>
            <p:nvPr/>
          </p:nvPicPr>
          <p:blipFill>
            <a:blip r:embed="rId2"/>
            <a:stretch>
              <a:fillRect/>
            </a:stretch>
          </p:blipFill>
          <p:spPr>
            <a:xfrm>
              <a:off x="533400" y="1685925"/>
              <a:ext cx="6667500" cy="3519106"/>
            </a:xfrm>
            <a:prstGeom prst="rect">
              <a:avLst/>
            </a:prstGeom>
          </p:spPr>
        </p:pic>
        <p:sp>
          <p:nvSpPr>
            <p:cNvPr id="6" name="TextBox 6"/>
            <p:cNvSpPr txBox="1"/>
            <p:nvPr/>
          </p:nvSpPr>
          <p:spPr>
            <a:xfrm>
              <a:off x="525780" y="5381625"/>
              <a:ext cx="3409950"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Figure 6 · U 吸附前后 XPS 与 EXAFS</a:t>
              </a:r>
            </a:p>
          </p:txBody>
        </p:sp>
      </p:grpSp>
      <p:grpSp>
        <p:nvGrpSpPr>
          <p:cNvPr id="17" name="Group 17"/>
          <p:cNvGrpSpPr/>
          <p:nvPr/>
        </p:nvGrpSpPr>
        <p:grpSpPr>
          <a:xfrm>
            <a:off x="7704582" y="1687830"/>
            <a:ext cx="3954018" cy="3940873"/>
            <a:chOff x="7704582" y="1687830"/>
            <a:chExt cx="3954018" cy="3940873"/>
          </a:xfrm>
        </p:grpSpPr>
        <p:sp>
          <p:nvSpPr>
            <p:cNvPr id="8" name="TextBox 8"/>
            <p:cNvSpPr txBox="1"/>
            <p:nvPr/>
          </p:nvSpPr>
          <p:spPr>
            <a:xfrm>
              <a:off x="7704582" y="1687830"/>
              <a:ext cx="2734315"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XPS：位点发生变化</a:t>
              </a:r>
            </a:p>
          </p:txBody>
        </p:sp>
        <p:sp>
          <p:nvSpPr>
            <p:cNvPr id="9" name="TextBox 9"/>
            <p:cNvSpPr txBox="1"/>
            <p:nvPr/>
          </p:nvSpPr>
          <p:spPr>
            <a:xfrm>
              <a:off x="7705344" y="2132648"/>
              <a:ext cx="3083614"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羰基 O 1s：位移 0.19 eV</a:t>
              </a:r>
            </a:p>
          </p:txBody>
        </p:sp>
        <p:sp>
          <p:nvSpPr>
            <p:cNvPr id="10" name="TextBox 10"/>
            <p:cNvSpPr txBox="1"/>
            <p:nvPr/>
          </p:nvSpPr>
          <p:spPr>
            <a:xfrm>
              <a:off x="7705344" y="2551748"/>
              <a:ext cx="3220688"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邻菲罗啉 N：位移 0.14 eV</a:t>
              </a:r>
            </a:p>
          </p:txBody>
        </p:sp>
        <p:sp>
          <p:nvSpPr>
            <p:cNvPr id="11" name="TextBox 11"/>
            <p:cNvSpPr txBox="1"/>
            <p:nvPr/>
          </p:nvSpPr>
          <p:spPr>
            <a:xfrm>
              <a:off x="7704582" y="3249930"/>
              <a:ext cx="3079318"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EXAFS：局部结构拟合</a:t>
              </a:r>
            </a:p>
          </p:txBody>
        </p:sp>
        <p:sp>
          <p:nvSpPr>
            <p:cNvPr id="12" name="TextBox 12"/>
            <p:cNvSpPr txBox="1"/>
            <p:nvPr/>
          </p:nvSpPr>
          <p:spPr>
            <a:xfrm>
              <a:off x="7705344" y="3694748"/>
              <a:ext cx="2835097"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赤道面：O/N 参与配位</a:t>
              </a:r>
            </a:p>
          </p:txBody>
        </p:sp>
        <p:sp>
          <p:nvSpPr>
            <p:cNvPr id="13" name="TextBox 13"/>
            <p:cNvSpPr txBox="1"/>
            <p:nvPr/>
          </p:nvSpPr>
          <p:spPr>
            <a:xfrm>
              <a:off x="7705344" y="4094798"/>
              <a:ext cx="2654808"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轴向 U–O：约 1.77 Å</a:t>
              </a:r>
            </a:p>
          </p:txBody>
        </p:sp>
        <p:sp>
          <p:nvSpPr>
            <p:cNvPr id="14" name="Line 14"/>
            <p:cNvSpPr/>
            <p:nvPr/>
          </p:nvSpPr>
          <p:spPr>
            <a:xfrm>
              <a:off x="7715250" y="4657725"/>
              <a:ext cx="3943350" cy="9525"/>
            </a:xfrm>
            <a:custGeom>
              <a:avLst/>
              <a:gdLst/>
              <a:ahLst/>
              <a:cxnLst/>
              <a:rect l="l" t="t" r="r" b="b"/>
              <a:pathLst>
                <a:path w="3943350" h="9525">
                  <a:moveTo>
                    <a:pt x="0" y="0"/>
                  </a:moveTo>
                  <a:lnTo>
                    <a:pt x="3943350" y="0"/>
                  </a:lnTo>
                </a:path>
              </a:pathLst>
            </a:custGeom>
            <a:noFill/>
            <a:ln w="19050">
              <a:solidFill>
                <a:srgbClr val="CEDBE1"/>
              </a:solidFill>
            </a:ln>
          </p:spPr>
        </p:sp>
        <p:sp>
          <p:nvSpPr>
            <p:cNvPr id="15" name="TextBox 15"/>
            <p:cNvSpPr txBox="1"/>
            <p:nvPr/>
          </p:nvSpPr>
          <p:spPr>
            <a:xfrm>
              <a:off x="7705344" y="4847272"/>
              <a:ext cx="3456402" cy="381381"/>
            </a:xfrm>
            <a:prstGeom prst="rect">
              <a:avLst/>
            </a:prstGeom>
            <a:noFill/>
            <a:ln>
              <a:noFill/>
            </a:ln>
          </p:spPr>
          <p:txBody>
            <a:bodyPr wrap="none" lIns="0" tIns="0" rIns="0" bIns="0" anchor="t" anchorCtr="0">
              <a:spAutoFit/>
            </a:bodyPr>
            <a:lstStyle/>
            <a:p>
              <a:pPr algn="l"/>
              <a:r>
                <a:rPr lang="zh-CN" sz="1950" b="1" dirty="0">
                  <a:solidFill>
                    <a:schemeClr val="accent3"/>
                  </a:solidFill>
                  <a:latin typeface="+mn-lt"/>
                  <a:ea typeface="+mn-ea"/>
                  <a:cs typeface="+mn-cs"/>
                </a:rPr>
                <a:t>证据对象：U(VI) 替代体系</a:t>
              </a:r>
            </a:p>
          </p:txBody>
        </p:sp>
        <p:sp>
          <p:nvSpPr>
            <p:cNvPr id="16" name="TextBox 16"/>
            <p:cNvSpPr txBox="1"/>
            <p:nvPr/>
          </p:nvSpPr>
          <p:spPr>
            <a:xfrm>
              <a:off x="7705344" y="5247322"/>
              <a:ext cx="3267098" cy="381381"/>
            </a:xfrm>
            <a:prstGeom prst="rect">
              <a:avLst/>
            </a:prstGeom>
            <a:noFill/>
            <a:ln>
              <a:noFill/>
            </a:ln>
          </p:spPr>
          <p:txBody>
            <a:bodyPr wrap="none" lIns="0" tIns="0" rIns="0" bIns="0" anchor="t" anchorCtr="0">
              <a:spAutoFit/>
            </a:bodyPr>
            <a:lstStyle/>
            <a:p>
              <a:pPr algn="l"/>
              <a:r>
                <a:rPr lang="zh-CN" sz="1950" b="1" dirty="0">
                  <a:solidFill>
                    <a:schemeClr val="accent3"/>
                  </a:solidFill>
                  <a:latin typeface="+mn-lt"/>
                  <a:ea typeface="+mn-ea"/>
                  <a:cs typeface="+mn-cs"/>
                </a:rPr>
                <a:t>推断范围：N/O 位点参与</a:t>
              </a:r>
            </a:p>
          </p:txBody>
        </p:sp>
      </p:grpSp>
      <p:grpSp>
        <p:nvGrpSpPr>
          <p:cNvPr id="19" name="Group 19"/>
          <p:cNvGrpSpPr/>
          <p:nvPr/>
        </p:nvGrpSpPr>
        <p:grpSpPr>
          <a:xfrm>
            <a:off x="525780" y="5934075"/>
            <a:ext cx="7824145" cy="293370"/>
            <a:chOff x="525780" y="5934075"/>
            <a:chExt cx="7824145" cy="293370"/>
          </a:xfrm>
        </p:grpSpPr>
        <p:sp>
          <p:nvSpPr>
            <p:cNvPr id="18" name="TextBox 18"/>
            <p:cNvSpPr txBox="1"/>
            <p:nvPr/>
          </p:nvSpPr>
          <p:spPr>
            <a:xfrm>
              <a:off x="525780" y="5934075"/>
              <a:ext cx="7824145"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可支持“N/O 位点参与结合”，但不能直接推出 Am、Pu、Np 都具有相同的配位结构。</a:t>
              </a:r>
            </a:p>
          </p:txBody>
        </p:sp>
      </p:grpSp>
      <p:grpSp>
        <p:nvGrpSpPr>
          <p:cNvPr id="23" name="Group 23"/>
          <p:cNvGrpSpPr/>
          <p:nvPr/>
        </p:nvGrpSpPr>
        <p:grpSpPr>
          <a:xfrm>
            <a:off x="527304" y="6305550"/>
            <a:ext cx="11137392" cy="371856"/>
            <a:chOff x="527304" y="6305550"/>
            <a:chExt cx="11137392" cy="371856"/>
          </a:xfrm>
        </p:grpSpPr>
        <p:sp>
          <p:nvSpPr>
            <p:cNvPr id="20" name="Line 20"/>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rgbClr val="CEDBE1"/>
              </a:solidFill>
            </a:ln>
          </p:spPr>
        </p:sp>
        <p:sp>
          <p:nvSpPr>
            <p:cNvPr id="21" name="TextBox 21"/>
            <p:cNvSpPr txBox="1"/>
            <p:nvPr/>
          </p:nvSpPr>
          <p:spPr>
            <a:xfrm>
              <a:off x="527304" y="6442710"/>
              <a:ext cx="3640455"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来源：§2.3、Figure 6 · 图为原文完整谱学组合图</a:t>
              </a:r>
            </a:p>
          </p:txBody>
        </p:sp>
        <p:sp>
          <p:nvSpPr>
            <p:cNvPr id="22" name="TextBox 22"/>
            <p:cNvSpPr txBox="1"/>
            <p:nvPr/>
          </p:nvSpPr>
          <p:spPr>
            <a:xfrm>
              <a:off x="11111332" y="6442710"/>
              <a:ext cx="55336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09 / 12</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8922" y="361950"/>
            <a:ext cx="8095084" cy="945071"/>
            <a:chOff x="518922" y="361950"/>
            <a:chExt cx="8095084" cy="945071"/>
          </a:xfrm>
        </p:grpSpPr>
        <p:sp>
          <p:nvSpPr>
            <p:cNvPr id="2" name="TextBox 2"/>
            <p:cNvSpPr txBox="1"/>
            <p:nvPr/>
          </p:nvSpPr>
          <p:spPr>
            <a:xfrm>
              <a:off x="525780" y="361950"/>
              <a:ext cx="1914144" cy="293370"/>
            </a:xfrm>
            <a:prstGeom prst="rect">
              <a:avLst/>
            </a:prstGeom>
            <a:noFill/>
            <a:ln>
              <a:noFill/>
            </a:ln>
          </p:spPr>
          <p:txBody>
            <a:bodyPr wrap="none" lIns="0" tIns="0" rIns="0" bIns="0" anchor="t" anchorCtr="0">
              <a:spAutoFit/>
            </a:bodyPr>
            <a:lstStyle/>
            <a:p>
              <a:pPr algn="l"/>
              <a:r>
                <a:rPr lang="zh-CN" sz="1500" dirty="0">
                  <a:solidFill>
                    <a:schemeClr val="accent2"/>
                  </a:solidFill>
                  <a:latin typeface="+mn-lt"/>
                  <a:ea typeface="+mn-ea"/>
                  <a:cs typeface="+mn-cs"/>
                </a:rPr>
                <a:t>09 / 机制证据：DFT</a:t>
              </a:r>
            </a:p>
          </p:txBody>
        </p:sp>
        <p:sp>
          <p:nvSpPr>
            <p:cNvPr id="3" name="TextBox 3"/>
            <p:cNvSpPr txBox="1"/>
            <p:nvPr/>
          </p:nvSpPr>
          <p:spPr>
            <a:xfrm>
              <a:off x="518922" y="749618"/>
              <a:ext cx="8095084"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DFT 支持更强结合，也提示模型解释的边界</a:t>
              </a:r>
            </a:p>
          </p:txBody>
        </p:sp>
      </p:grpSp>
      <p:grpSp>
        <p:nvGrpSpPr>
          <p:cNvPr id="18" name="Group 18"/>
          <p:cNvGrpSpPr/>
          <p:nvPr/>
        </p:nvGrpSpPr>
        <p:grpSpPr>
          <a:xfrm>
            <a:off x="525780" y="1724025"/>
            <a:ext cx="6484620" cy="2809875"/>
            <a:chOff x="525780" y="1724025"/>
            <a:chExt cx="6484620" cy="2809875"/>
          </a:xfrm>
        </p:grpSpPr>
        <p:sp>
          <p:nvSpPr>
            <p:cNvPr id="5" name="TextBox 5"/>
            <p:cNvSpPr txBox="1"/>
            <p:nvPr/>
          </p:nvSpPr>
          <p:spPr>
            <a:xfrm>
              <a:off x="525780" y="1724025"/>
              <a:ext cx="3758422"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吸附能 / kcal·mol⁻¹ · 原文 Table 1 节选</a:t>
              </a:r>
            </a:p>
          </p:txBody>
        </p:sp>
        <p:sp>
          <p:nvSpPr>
            <p:cNvPr id="6" name="Rectangle 6"/>
            <p:cNvSpPr/>
            <p:nvPr/>
          </p:nvSpPr>
          <p:spPr>
            <a:xfrm>
              <a:off x="533400" y="2143125"/>
              <a:ext cx="6477000" cy="590550"/>
            </a:xfrm>
            <a:prstGeom prst="rect">
              <a:avLst/>
            </a:prstGeom>
            <a:solidFill>
              <a:schemeClr val="accent5"/>
            </a:solidFill>
            <a:ln>
              <a:noFill/>
            </a:ln>
          </p:spPr>
        </p:sp>
        <p:sp>
          <p:nvSpPr>
            <p:cNvPr id="7" name="TextBox 7"/>
            <p:cNvSpPr txBox="1"/>
            <p:nvPr/>
          </p:nvSpPr>
          <p:spPr>
            <a:xfrm>
              <a:off x="733044" y="2313622"/>
              <a:ext cx="571081" cy="381381"/>
            </a:xfrm>
            <a:prstGeom prst="rect">
              <a:avLst/>
            </a:prstGeom>
            <a:noFill/>
            <a:ln>
              <a:noFill/>
            </a:ln>
          </p:spPr>
          <p:txBody>
            <a:bodyPr wrap="none" lIns="0" tIns="0" rIns="0" bIns="0" anchor="t" anchorCtr="0">
              <a:spAutoFit/>
            </a:bodyPr>
            <a:lstStyle/>
            <a:p>
              <a:pPr algn="l"/>
              <a:r>
                <a:rPr lang="zh-CN" sz="1950" b="1" dirty="0">
                  <a:solidFill>
                    <a:schemeClr val="dk1"/>
                  </a:solidFill>
                  <a:latin typeface="+mn-lt"/>
                  <a:ea typeface="+mn-ea"/>
                  <a:cs typeface="+mn-cs"/>
                </a:rPr>
                <a:t>材料</a:t>
              </a:r>
            </a:p>
          </p:txBody>
        </p:sp>
        <p:sp>
          <p:nvSpPr>
            <p:cNvPr id="8" name="TextBox 8"/>
            <p:cNvSpPr txBox="1"/>
            <p:nvPr/>
          </p:nvSpPr>
          <p:spPr>
            <a:xfrm>
              <a:off x="3286603" y="2313622"/>
              <a:ext cx="970595" cy="381381"/>
            </a:xfrm>
            <a:prstGeom prst="rect">
              <a:avLst/>
            </a:prstGeom>
            <a:noFill/>
            <a:ln>
              <a:noFill/>
            </a:ln>
          </p:spPr>
          <p:txBody>
            <a:bodyPr wrap="none" lIns="0" tIns="0" rIns="0" bIns="0" anchor="t" anchorCtr="0">
              <a:spAutoFit/>
            </a:bodyPr>
            <a:lstStyle/>
            <a:p>
              <a:pPr algn="ctr"/>
              <a:r>
                <a:rPr lang="zh-CN" sz="1950" b="1" dirty="0">
                  <a:solidFill>
                    <a:schemeClr val="dk1"/>
                  </a:solidFill>
                  <a:latin typeface="+mn-lt"/>
                  <a:ea typeface="+mn-ea"/>
                  <a:cs typeface="+mn-cs"/>
                </a:rPr>
                <a:t>Am(III)</a:t>
              </a:r>
            </a:p>
          </p:txBody>
        </p:sp>
        <p:sp>
          <p:nvSpPr>
            <p:cNvPr id="9" name="TextBox 9"/>
            <p:cNvSpPr txBox="1"/>
            <p:nvPr/>
          </p:nvSpPr>
          <p:spPr>
            <a:xfrm>
              <a:off x="5487114" y="2313622"/>
              <a:ext cx="912972" cy="381381"/>
            </a:xfrm>
            <a:prstGeom prst="rect">
              <a:avLst/>
            </a:prstGeom>
            <a:noFill/>
            <a:ln>
              <a:noFill/>
            </a:ln>
          </p:spPr>
          <p:txBody>
            <a:bodyPr wrap="none" lIns="0" tIns="0" rIns="0" bIns="0" anchor="t" anchorCtr="0">
              <a:spAutoFit/>
            </a:bodyPr>
            <a:lstStyle/>
            <a:p>
              <a:pPr algn="ctr"/>
              <a:r>
                <a:rPr lang="zh-CN" sz="1950" b="1" dirty="0">
                  <a:solidFill>
                    <a:schemeClr val="dk1"/>
                  </a:solidFill>
                  <a:latin typeface="+mn-lt"/>
                  <a:ea typeface="+mn-ea"/>
                  <a:cs typeface="+mn-cs"/>
                </a:rPr>
                <a:t>Eu(III)</a:t>
              </a:r>
            </a:p>
          </p:txBody>
        </p:sp>
        <p:sp>
          <p:nvSpPr>
            <p:cNvPr id="10" name="TextBox 10"/>
            <p:cNvSpPr txBox="1"/>
            <p:nvPr/>
          </p:nvSpPr>
          <p:spPr>
            <a:xfrm>
              <a:off x="733044" y="3123248"/>
              <a:ext cx="1650216" cy="381381"/>
            </a:xfrm>
            <a:prstGeom prst="rect">
              <a:avLst/>
            </a:prstGeom>
            <a:noFill/>
            <a:ln>
              <a:noFill/>
            </a:ln>
          </p:spPr>
          <p:txBody>
            <a:bodyPr wrap="none" lIns="0" tIns="0" rIns="0" bIns="0" anchor="t" anchorCtr="0">
              <a:spAutoFit/>
            </a:bodyPr>
            <a:lstStyle/>
            <a:p>
              <a:pPr algn="l"/>
              <a:r>
                <a:rPr lang="zh-CN" sz="1950" b="1" dirty="0">
                  <a:solidFill>
                    <a:schemeClr val="accent2"/>
                  </a:solidFill>
                  <a:latin typeface="+mn-lt"/>
                  <a:ea typeface="+mn-ea"/>
                  <a:cs typeface="+mn-cs"/>
                </a:rPr>
                <a:t>DAPhen-COF</a:t>
              </a:r>
            </a:p>
          </p:txBody>
        </p:sp>
        <p:sp>
          <p:nvSpPr>
            <p:cNvPr id="11" name="TextBox 11"/>
            <p:cNvSpPr txBox="1"/>
            <p:nvPr/>
          </p:nvSpPr>
          <p:spPr>
            <a:xfrm>
              <a:off x="3177397" y="3090862"/>
              <a:ext cx="1189006" cy="440055"/>
            </a:xfrm>
            <a:prstGeom prst="rect">
              <a:avLst/>
            </a:prstGeom>
            <a:noFill/>
            <a:ln>
              <a:noFill/>
            </a:ln>
          </p:spPr>
          <p:txBody>
            <a:bodyPr wrap="none" lIns="0" tIns="0" rIns="0" bIns="0" anchor="t" anchorCtr="0">
              <a:spAutoFit/>
            </a:bodyPr>
            <a:lstStyle/>
            <a:p>
              <a:pPr algn="ctr"/>
              <a:r>
                <a:rPr lang="zh-CN" sz="2250" dirty="0">
                  <a:solidFill>
                    <a:schemeClr val="dk1"/>
                  </a:solidFill>
                  <a:latin typeface="+mn-lt"/>
                  <a:ea typeface="+mn-ea"/>
                  <a:cs typeface="+mn-cs"/>
                </a:rPr>
                <a:t>−497.92</a:t>
              </a:r>
            </a:p>
          </p:txBody>
        </p:sp>
        <p:sp>
          <p:nvSpPr>
            <p:cNvPr id="12" name="TextBox 12"/>
            <p:cNvSpPr txBox="1"/>
            <p:nvPr/>
          </p:nvSpPr>
          <p:spPr>
            <a:xfrm>
              <a:off x="5349097" y="3090862"/>
              <a:ext cx="1189006" cy="440055"/>
            </a:xfrm>
            <a:prstGeom prst="rect">
              <a:avLst/>
            </a:prstGeom>
            <a:noFill/>
            <a:ln>
              <a:noFill/>
            </a:ln>
          </p:spPr>
          <p:txBody>
            <a:bodyPr wrap="none" lIns="0" tIns="0" rIns="0" bIns="0" anchor="t" anchorCtr="0">
              <a:spAutoFit/>
            </a:bodyPr>
            <a:lstStyle/>
            <a:p>
              <a:pPr algn="ctr"/>
              <a:r>
                <a:rPr lang="zh-CN" sz="2250" dirty="0">
                  <a:solidFill>
                    <a:schemeClr val="dk1"/>
                  </a:solidFill>
                  <a:latin typeface="+mn-lt"/>
                  <a:ea typeface="+mn-ea"/>
                  <a:cs typeface="+mn-cs"/>
                </a:rPr>
                <a:t>−495.15</a:t>
              </a:r>
            </a:p>
          </p:txBody>
        </p:sp>
        <p:sp>
          <p:nvSpPr>
            <p:cNvPr id="13" name="Line 13"/>
            <p:cNvSpPr/>
            <p:nvPr/>
          </p:nvSpPr>
          <p:spPr>
            <a:xfrm>
              <a:off x="533400" y="3657600"/>
              <a:ext cx="6477000" cy="9525"/>
            </a:xfrm>
            <a:custGeom>
              <a:avLst/>
              <a:gdLst/>
              <a:ahLst/>
              <a:cxnLst/>
              <a:rect l="l" t="t" r="r" b="b"/>
              <a:pathLst>
                <a:path w="6477000" h="9525">
                  <a:moveTo>
                    <a:pt x="0" y="0"/>
                  </a:moveTo>
                  <a:lnTo>
                    <a:pt x="6477000" y="0"/>
                  </a:lnTo>
                </a:path>
              </a:pathLst>
            </a:custGeom>
            <a:noFill/>
            <a:ln w="9525">
              <a:solidFill>
                <a:srgbClr val="CEDBE1"/>
              </a:solidFill>
            </a:ln>
          </p:spPr>
        </p:sp>
        <p:sp>
          <p:nvSpPr>
            <p:cNvPr id="14" name="TextBox 14"/>
            <p:cNvSpPr txBox="1"/>
            <p:nvPr/>
          </p:nvSpPr>
          <p:spPr>
            <a:xfrm>
              <a:off x="733044" y="3990022"/>
              <a:ext cx="1028218" cy="381381"/>
            </a:xfrm>
            <a:prstGeom prst="rect">
              <a:avLst/>
            </a:prstGeom>
            <a:noFill/>
            <a:ln>
              <a:noFill/>
            </a:ln>
          </p:spPr>
          <p:txBody>
            <a:bodyPr wrap="none" lIns="0" tIns="0" rIns="0" bIns="0" anchor="t" anchorCtr="0">
              <a:spAutoFit/>
            </a:bodyPr>
            <a:lstStyle/>
            <a:p>
              <a:pPr algn="l"/>
              <a:r>
                <a:rPr lang="zh-CN" sz="1950" b="1" dirty="0">
                  <a:solidFill>
                    <a:schemeClr val="accent3"/>
                  </a:solidFill>
                  <a:latin typeface="+mn-lt"/>
                  <a:ea typeface="+mn-ea"/>
                  <a:cs typeface="+mn-cs"/>
                </a:rPr>
                <a:t>Py-COF</a:t>
              </a:r>
            </a:p>
          </p:txBody>
        </p:sp>
        <p:sp>
          <p:nvSpPr>
            <p:cNvPr id="15" name="TextBox 15"/>
            <p:cNvSpPr txBox="1"/>
            <p:nvPr/>
          </p:nvSpPr>
          <p:spPr>
            <a:xfrm>
              <a:off x="3177397" y="3957638"/>
              <a:ext cx="1189006" cy="440055"/>
            </a:xfrm>
            <a:prstGeom prst="rect">
              <a:avLst/>
            </a:prstGeom>
            <a:noFill/>
            <a:ln>
              <a:noFill/>
            </a:ln>
          </p:spPr>
          <p:txBody>
            <a:bodyPr wrap="none" lIns="0" tIns="0" rIns="0" bIns="0" anchor="t" anchorCtr="0">
              <a:spAutoFit/>
            </a:bodyPr>
            <a:lstStyle/>
            <a:p>
              <a:pPr algn="ctr"/>
              <a:r>
                <a:rPr lang="zh-CN" sz="2250" dirty="0">
                  <a:solidFill>
                    <a:schemeClr val="dk1"/>
                  </a:solidFill>
                  <a:latin typeface="+mn-lt"/>
                  <a:ea typeface="+mn-ea"/>
                  <a:cs typeface="+mn-cs"/>
                </a:rPr>
                <a:t>−298.27</a:t>
              </a:r>
            </a:p>
          </p:txBody>
        </p:sp>
        <p:sp>
          <p:nvSpPr>
            <p:cNvPr id="16" name="TextBox 16"/>
            <p:cNvSpPr txBox="1"/>
            <p:nvPr/>
          </p:nvSpPr>
          <p:spPr>
            <a:xfrm>
              <a:off x="5349097" y="3957638"/>
              <a:ext cx="1189006" cy="440055"/>
            </a:xfrm>
            <a:prstGeom prst="rect">
              <a:avLst/>
            </a:prstGeom>
            <a:noFill/>
            <a:ln>
              <a:noFill/>
            </a:ln>
          </p:spPr>
          <p:txBody>
            <a:bodyPr wrap="none" lIns="0" tIns="0" rIns="0" bIns="0" anchor="t" anchorCtr="0">
              <a:spAutoFit/>
            </a:bodyPr>
            <a:lstStyle/>
            <a:p>
              <a:pPr algn="ctr"/>
              <a:r>
                <a:rPr lang="zh-CN" sz="2250" dirty="0">
                  <a:solidFill>
                    <a:schemeClr val="dk1"/>
                  </a:solidFill>
                  <a:latin typeface="+mn-lt"/>
                  <a:ea typeface="+mn-ea"/>
                  <a:cs typeface="+mn-cs"/>
                </a:rPr>
                <a:t>−297.24</a:t>
              </a:r>
            </a:p>
          </p:txBody>
        </p:sp>
        <p:sp>
          <p:nvSpPr>
            <p:cNvPr id="17" name="Line 17"/>
            <p:cNvSpPr/>
            <p:nvPr/>
          </p:nvSpPr>
          <p:spPr>
            <a:xfrm>
              <a:off x="533400" y="4524375"/>
              <a:ext cx="6477000" cy="9525"/>
            </a:xfrm>
            <a:custGeom>
              <a:avLst/>
              <a:gdLst/>
              <a:ahLst/>
              <a:cxnLst/>
              <a:rect l="l" t="t" r="r" b="b"/>
              <a:pathLst>
                <a:path w="6477000" h="9525">
                  <a:moveTo>
                    <a:pt x="0" y="0"/>
                  </a:moveTo>
                  <a:lnTo>
                    <a:pt x="6477000" y="0"/>
                  </a:lnTo>
                </a:path>
              </a:pathLst>
            </a:custGeom>
            <a:noFill/>
            <a:ln w="19050">
              <a:solidFill>
                <a:srgbClr val="CEDBE1"/>
              </a:solidFill>
            </a:ln>
          </p:spPr>
        </p:sp>
      </p:grpSp>
      <p:grpSp>
        <p:nvGrpSpPr>
          <p:cNvPr id="24" name="Group 24"/>
          <p:cNvGrpSpPr/>
          <p:nvPr/>
        </p:nvGrpSpPr>
        <p:grpSpPr>
          <a:xfrm>
            <a:off x="7698486" y="1742122"/>
            <a:ext cx="3229490" cy="2551748"/>
            <a:chOff x="7698486" y="1742122"/>
            <a:chExt cx="3229490" cy="2551748"/>
          </a:xfrm>
        </p:grpSpPr>
        <p:sp>
          <p:nvSpPr>
            <p:cNvPr id="19" name="TextBox 19"/>
            <p:cNvSpPr txBox="1"/>
            <p:nvPr/>
          </p:nvSpPr>
          <p:spPr>
            <a:xfrm>
              <a:off x="7705344" y="1742122"/>
              <a:ext cx="3222632"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mn-lt"/>
                  <a:ea typeface="+mn-ea"/>
                  <a:cs typeface="+mn-cs"/>
                </a:rPr>
                <a:t>Am 比 Eu 更有利的能量差</a:t>
              </a:r>
            </a:p>
          </p:txBody>
        </p:sp>
        <p:sp>
          <p:nvSpPr>
            <p:cNvPr id="20" name="TextBox 20"/>
            <p:cNvSpPr txBox="1"/>
            <p:nvPr/>
          </p:nvSpPr>
          <p:spPr>
            <a:xfrm>
              <a:off x="7698486" y="2329815"/>
              <a:ext cx="1059736" cy="645414"/>
            </a:xfrm>
            <a:prstGeom prst="rect">
              <a:avLst/>
            </a:prstGeom>
            <a:noFill/>
            <a:ln>
              <a:noFill/>
            </a:ln>
          </p:spPr>
          <p:txBody>
            <a:bodyPr wrap="none" lIns="0" tIns="0" rIns="0" bIns="0" anchor="t" anchorCtr="0">
              <a:spAutoFit/>
            </a:bodyPr>
            <a:lstStyle/>
            <a:p>
              <a:pPr algn="l"/>
              <a:r>
                <a:rPr lang="zh-CN" sz="3300" b="1" dirty="0">
                  <a:solidFill>
                    <a:schemeClr val="accent2"/>
                  </a:solidFill>
                  <a:latin typeface="+mn-lt"/>
                  <a:ea typeface="+mn-ea"/>
                  <a:cs typeface="+mn-cs"/>
                </a:rPr>
                <a:t>2.77</a:t>
              </a:r>
            </a:p>
          </p:txBody>
        </p:sp>
        <p:sp>
          <p:nvSpPr>
            <p:cNvPr id="21" name="TextBox 21"/>
            <p:cNvSpPr txBox="1"/>
            <p:nvPr/>
          </p:nvSpPr>
          <p:spPr>
            <a:xfrm>
              <a:off x="7707630" y="2876550"/>
              <a:ext cx="2500146"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DAPhen-COF / kcal·mol⁻¹</a:t>
              </a:r>
            </a:p>
          </p:txBody>
        </p:sp>
        <p:sp>
          <p:nvSpPr>
            <p:cNvPr id="22" name="TextBox 22"/>
            <p:cNvSpPr txBox="1"/>
            <p:nvPr/>
          </p:nvSpPr>
          <p:spPr>
            <a:xfrm>
              <a:off x="7698486" y="3453765"/>
              <a:ext cx="1010869" cy="645414"/>
            </a:xfrm>
            <a:prstGeom prst="rect">
              <a:avLst/>
            </a:prstGeom>
            <a:noFill/>
            <a:ln>
              <a:noFill/>
            </a:ln>
          </p:spPr>
          <p:txBody>
            <a:bodyPr wrap="none" lIns="0" tIns="0" rIns="0" bIns="0" anchor="t" anchorCtr="0">
              <a:spAutoFit/>
            </a:bodyPr>
            <a:lstStyle/>
            <a:p>
              <a:pPr algn="l"/>
              <a:r>
                <a:rPr lang="zh-CN" sz="3300" dirty="0">
                  <a:solidFill>
                    <a:schemeClr val="accent3"/>
                  </a:solidFill>
                  <a:latin typeface="+mn-lt"/>
                  <a:ea typeface="+mn-ea"/>
                  <a:cs typeface="+mn-cs"/>
                </a:rPr>
                <a:t>1.03</a:t>
              </a:r>
            </a:p>
          </p:txBody>
        </p:sp>
        <p:sp>
          <p:nvSpPr>
            <p:cNvPr id="23" name="TextBox 23"/>
            <p:cNvSpPr txBox="1"/>
            <p:nvPr/>
          </p:nvSpPr>
          <p:spPr>
            <a:xfrm>
              <a:off x="7707630" y="4000500"/>
              <a:ext cx="2041779"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Py-COF / kcal·mol⁻¹</a:t>
              </a:r>
            </a:p>
          </p:txBody>
        </p:sp>
      </p:grpSp>
      <p:grpSp>
        <p:nvGrpSpPr>
          <p:cNvPr id="28" name="Group 28"/>
          <p:cNvGrpSpPr/>
          <p:nvPr/>
        </p:nvGrpSpPr>
        <p:grpSpPr>
          <a:xfrm>
            <a:off x="533400" y="5019675"/>
            <a:ext cx="11125200" cy="1057275"/>
            <a:chOff x="533400" y="5019675"/>
            <a:chExt cx="11125200" cy="1057275"/>
          </a:xfrm>
        </p:grpSpPr>
        <p:sp>
          <p:nvSpPr>
            <p:cNvPr id="25" name="Rectangle 25"/>
            <p:cNvSpPr/>
            <p:nvPr/>
          </p:nvSpPr>
          <p:spPr>
            <a:xfrm>
              <a:off x="533400" y="5019675"/>
              <a:ext cx="11125200" cy="1057275"/>
            </a:xfrm>
            <a:prstGeom prst="rect">
              <a:avLst/>
            </a:prstGeom>
            <a:solidFill>
              <a:schemeClr val="accent5"/>
            </a:solidFill>
            <a:ln>
              <a:noFill/>
            </a:ln>
          </p:spPr>
        </p:sp>
        <p:sp>
          <p:nvSpPr>
            <p:cNvPr id="26" name="TextBox 26"/>
            <p:cNvSpPr txBox="1"/>
            <p:nvPr/>
          </p:nvSpPr>
          <p:spPr>
            <a:xfrm>
              <a:off x="751332" y="5202555"/>
              <a:ext cx="7830112"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单片段模型尚未解释：为什么实验中 Np(V) 亲和最突出？</a:t>
              </a:r>
            </a:p>
          </p:txBody>
        </p:sp>
        <p:sp>
          <p:nvSpPr>
            <p:cNvPr id="27" name="TextBox 27"/>
            <p:cNvSpPr txBox="1"/>
            <p:nvPr/>
          </p:nvSpPr>
          <p:spPr>
            <a:xfrm>
              <a:off x="754380" y="5676900"/>
              <a:ext cx="7568184"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计算吸附能不是溶液自由能，不能直接换算 SF；需要进一步考虑层间合作结合。</a:t>
              </a:r>
            </a:p>
          </p:txBody>
        </p:sp>
      </p:grpSp>
      <p:grpSp>
        <p:nvGrpSpPr>
          <p:cNvPr id="32" name="Group 32"/>
          <p:cNvGrpSpPr/>
          <p:nvPr/>
        </p:nvGrpSpPr>
        <p:grpSpPr>
          <a:xfrm>
            <a:off x="527304" y="6305550"/>
            <a:ext cx="11137392" cy="371856"/>
            <a:chOff x="527304" y="6305550"/>
            <a:chExt cx="11137392" cy="371856"/>
          </a:xfrm>
        </p:grpSpPr>
        <p:sp>
          <p:nvSpPr>
            <p:cNvPr id="29" name="Line 29"/>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rgbClr val="CEDBE1"/>
              </a:solidFill>
            </a:ln>
          </p:spPr>
        </p:sp>
        <p:sp>
          <p:nvSpPr>
            <p:cNvPr id="30" name="TextBox 30"/>
            <p:cNvSpPr txBox="1"/>
            <p:nvPr/>
          </p:nvSpPr>
          <p:spPr>
            <a:xfrm>
              <a:off x="527304" y="6442710"/>
              <a:ext cx="4278630"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来源：§2.3、Table 1 · 计算水平 B3LYP/6-31G(d)/RECP</a:t>
              </a:r>
            </a:p>
          </p:txBody>
        </p:sp>
        <p:sp>
          <p:nvSpPr>
            <p:cNvPr id="31" name="TextBox 31"/>
            <p:cNvSpPr txBox="1"/>
            <p:nvPr/>
          </p:nvSpPr>
          <p:spPr>
            <a:xfrm>
              <a:off x="11111332" y="6442710"/>
              <a:ext cx="55336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10 / 12</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18922" y="361950"/>
            <a:ext cx="7156747" cy="945071"/>
            <a:chOff x="518922" y="361950"/>
            <a:chExt cx="7156747" cy="945071"/>
          </a:xfrm>
        </p:grpSpPr>
        <p:sp>
          <p:nvSpPr>
            <p:cNvPr id="2" name="TextBox 2"/>
            <p:cNvSpPr txBox="1"/>
            <p:nvPr/>
          </p:nvSpPr>
          <p:spPr>
            <a:xfrm>
              <a:off x="525780" y="361950"/>
              <a:ext cx="2286952" cy="293370"/>
            </a:xfrm>
            <a:prstGeom prst="rect">
              <a:avLst/>
            </a:prstGeom>
            <a:noFill/>
            <a:ln>
              <a:noFill/>
            </a:ln>
          </p:spPr>
          <p:txBody>
            <a:bodyPr wrap="none" lIns="0" tIns="0" rIns="0" bIns="0" anchor="t" anchorCtr="0">
              <a:spAutoFit/>
            </a:bodyPr>
            <a:lstStyle/>
            <a:p>
              <a:pPr algn="l"/>
              <a:r>
                <a:rPr lang="zh-CN" sz="1500" dirty="0">
                  <a:solidFill>
                    <a:schemeClr val="accent2"/>
                  </a:solidFill>
                  <a:latin typeface="+mn-lt"/>
                  <a:ea typeface="+mn-ea"/>
                  <a:cs typeface="+mn-cs"/>
                </a:rPr>
                <a:t>10 / 机制解释：层间协同</a:t>
              </a:r>
            </a:p>
          </p:txBody>
        </p:sp>
        <p:sp>
          <p:nvSpPr>
            <p:cNvPr id="3" name="TextBox 3"/>
            <p:cNvSpPr txBox="1"/>
            <p:nvPr/>
          </p:nvSpPr>
          <p:spPr>
            <a:xfrm>
              <a:off x="518922" y="749618"/>
              <a:ext cx="7156747"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n-lt"/>
                  <a:ea typeface="+mn-ea"/>
                  <a:cs typeface="+mn-cs"/>
                </a:rPr>
                <a:t>Np(V) 的额外优势，可能来自层间协同</a:t>
              </a:r>
            </a:p>
          </p:txBody>
        </p:sp>
      </p:grpSp>
      <p:grpSp>
        <p:nvGrpSpPr>
          <p:cNvPr id="7" name="Group 7"/>
          <p:cNvGrpSpPr/>
          <p:nvPr/>
        </p:nvGrpSpPr>
        <p:grpSpPr>
          <a:xfrm>
            <a:off x="525780" y="1562100"/>
            <a:ext cx="7056120" cy="4236720"/>
            <a:chOff x="525780" y="1562100"/>
            <a:chExt cx="7056120" cy="4236720"/>
          </a:xfrm>
        </p:grpSpPr>
        <p:pic>
          <p:nvPicPr>
            <p:cNvPr id="5" name="Image 5"/>
            <p:cNvPicPr>
              <a:picLocks noChangeAspect="1"/>
            </p:cNvPicPr>
            <p:nvPr/>
          </p:nvPicPr>
          <p:blipFill>
            <a:blip r:embed="rId2"/>
            <a:stretch>
              <a:fillRect/>
            </a:stretch>
          </p:blipFill>
          <p:spPr>
            <a:xfrm>
              <a:off x="533400" y="1562100"/>
              <a:ext cx="7048500" cy="3801523"/>
            </a:xfrm>
            <a:prstGeom prst="rect">
              <a:avLst/>
            </a:prstGeom>
          </p:spPr>
        </p:pic>
        <p:sp>
          <p:nvSpPr>
            <p:cNvPr id="6" name="TextBox 6"/>
            <p:cNvSpPr txBox="1"/>
            <p:nvPr/>
          </p:nvSpPr>
          <p:spPr>
            <a:xfrm>
              <a:off x="525780" y="5505450"/>
              <a:ext cx="4344638"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Figure 8 · 两层 COF 与三个 Np(V) 的计算模型</a:t>
              </a:r>
            </a:p>
          </p:txBody>
        </p:sp>
      </p:grpSp>
      <p:grpSp>
        <p:nvGrpSpPr>
          <p:cNvPr id="17" name="Group 17"/>
          <p:cNvGrpSpPr/>
          <p:nvPr/>
        </p:nvGrpSpPr>
        <p:grpSpPr>
          <a:xfrm>
            <a:off x="7990332" y="1668780"/>
            <a:ext cx="3668268" cy="4112323"/>
            <a:chOff x="7990332" y="1668780"/>
            <a:chExt cx="3668268" cy="4112323"/>
          </a:xfrm>
        </p:grpSpPr>
        <p:sp>
          <p:nvSpPr>
            <p:cNvPr id="8" name="TextBox 8"/>
            <p:cNvSpPr txBox="1"/>
            <p:nvPr/>
          </p:nvSpPr>
          <p:spPr>
            <a:xfrm>
              <a:off x="7990332" y="1668780"/>
              <a:ext cx="2559293"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锕酰–锕酰相互作用</a:t>
              </a:r>
            </a:p>
          </p:txBody>
        </p:sp>
        <p:sp>
          <p:nvSpPr>
            <p:cNvPr id="9" name="TextBox 9"/>
            <p:cNvSpPr txBox="1"/>
            <p:nvPr/>
          </p:nvSpPr>
          <p:spPr>
            <a:xfrm>
              <a:off x="7993380" y="2162175"/>
              <a:ext cx="3244727"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actinyl–actinyl interactions, AAI</a:t>
              </a:r>
            </a:p>
          </p:txBody>
        </p:sp>
        <p:sp>
          <p:nvSpPr>
            <p:cNvPr id="10" name="TextBox 10"/>
            <p:cNvSpPr txBox="1"/>
            <p:nvPr/>
          </p:nvSpPr>
          <p:spPr>
            <a:xfrm>
              <a:off x="7991094" y="2694622"/>
              <a:ext cx="3084728"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供体：一枚锕酰的轴向 O</a:t>
              </a:r>
            </a:p>
          </p:txBody>
        </p:sp>
        <p:sp>
          <p:nvSpPr>
            <p:cNvPr id="11" name="TextBox 11"/>
            <p:cNvSpPr txBox="1"/>
            <p:nvPr/>
          </p:nvSpPr>
          <p:spPr>
            <a:xfrm>
              <a:off x="7991094" y="3094672"/>
              <a:ext cx="2908154"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受体：另一 Np 的赤道面</a:t>
              </a:r>
            </a:p>
          </p:txBody>
        </p:sp>
        <p:sp>
          <p:nvSpPr>
            <p:cNvPr id="12" name="Line 12"/>
            <p:cNvSpPr/>
            <p:nvPr/>
          </p:nvSpPr>
          <p:spPr>
            <a:xfrm>
              <a:off x="8001000" y="3676650"/>
              <a:ext cx="3657600" cy="9525"/>
            </a:xfrm>
            <a:custGeom>
              <a:avLst/>
              <a:gdLst/>
              <a:ahLst/>
              <a:cxnLst/>
              <a:rect l="l" t="t" r="r" b="b"/>
              <a:pathLst>
                <a:path w="3657600" h="9525">
                  <a:moveTo>
                    <a:pt x="0" y="0"/>
                  </a:moveTo>
                  <a:lnTo>
                    <a:pt x="3657600" y="0"/>
                  </a:lnTo>
                </a:path>
              </a:pathLst>
            </a:custGeom>
            <a:noFill/>
            <a:ln w="19050">
              <a:solidFill>
                <a:srgbClr val="CEDBE1"/>
              </a:solidFill>
            </a:ln>
          </p:spPr>
        </p:sp>
        <p:sp>
          <p:nvSpPr>
            <p:cNvPr id="13" name="TextBox 13"/>
            <p:cNvSpPr txBox="1"/>
            <p:nvPr/>
          </p:nvSpPr>
          <p:spPr>
            <a:xfrm>
              <a:off x="7991094" y="3894772"/>
              <a:ext cx="2959913"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模型层间距离：8.232 Å</a:t>
              </a:r>
            </a:p>
          </p:txBody>
        </p:sp>
        <p:sp>
          <p:nvSpPr>
            <p:cNvPr id="14" name="TextBox 14"/>
            <p:cNvSpPr txBox="1"/>
            <p:nvPr/>
          </p:nvSpPr>
          <p:spPr>
            <a:xfrm>
              <a:off x="7991094" y="4351972"/>
              <a:ext cx="3235547"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吸附能：−671.07 kcal/mol</a:t>
              </a:r>
            </a:p>
          </p:txBody>
        </p:sp>
        <p:sp>
          <p:nvSpPr>
            <p:cNvPr id="15" name="TextBox 15"/>
            <p:cNvSpPr txBox="1"/>
            <p:nvPr/>
          </p:nvSpPr>
          <p:spPr>
            <a:xfrm>
              <a:off x="7991094" y="4999672"/>
              <a:ext cx="3327425" cy="381381"/>
            </a:xfrm>
            <a:prstGeom prst="rect">
              <a:avLst/>
            </a:prstGeom>
            <a:noFill/>
            <a:ln>
              <a:noFill/>
            </a:ln>
          </p:spPr>
          <p:txBody>
            <a:bodyPr wrap="none" lIns="0" tIns="0" rIns="0" bIns="0" anchor="t" anchorCtr="0">
              <a:spAutoFit/>
            </a:bodyPr>
            <a:lstStyle/>
            <a:p>
              <a:pPr algn="l"/>
              <a:r>
                <a:rPr lang="zh-CN" sz="1950" b="1" dirty="0">
                  <a:solidFill>
                    <a:schemeClr val="accent3"/>
                  </a:solidFill>
                  <a:latin typeface="+mn-lt"/>
                  <a:ea typeface="+mn-ea"/>
                  <a:cs typeface="+mn-cs"/>
                </a:rPr>
                <a:t>证据等级：合理的理论解释</a:t>
              </a:r>
            </a:p>
          </p:txBody>
        </p:sp>
        <p:sp>
          <p:nvSpPr>
            <p:cNvPr id="16" name="TextBox 16"/>
            <p:cNvSpPr txBox="1"/>
            <p:nvPr/>
          </p:nvSpPr>
          <p:spPr>
            <a:xfrm>
              <a:off x="7991094" y="5399722"/>
              <a:ext cx="2776156" cy="381381"/>
            </a:xfrm>
            <a:prstGeom prst="rect">
              <a:avLst/>
            </a:prstGeom>
            <a:noFill/>
            <a:ln>
              <a:noFill/>
            </a:ln>
          </p:spPr>
          <p:txBody>
            <a:bodyPr wrap="none" lIns="0" tIns="0" rIns="0" bIns="0" anchor="t" anchorCtr="0">
              <a:spAutoFit/>
            </a:bodyPr>
            <a:lstStyle/>
            <a:p>
              <a:pPr algn="l"/>
              <a:r>
                <a:rPr lang="zh-CN" sz="1950" b="1" dirty="0">
                  <a:solidFill>
                    <a:schemeClr val="accent3"/>
                  </a:solidFill>
                  <a:latin typeface="+mn-lt"/>
                  <a:ea typeface="+mn-ea"/>
                  <a:cs typeface="+mn-cs"/>
                </a:rPr>
                <a:t>待验证：直接配位结构</a:t>
              </a:r>
            </a:p>
          </p:txBody>
        </p:sp>
      </p:grpSp>
      <p:grpSp>
        <p:nvGrpSpPr>
          <p:cNvPr id="19" name="Group 19"/>
          <p:cNvGrpSpPr/>
          <p:nvPr/>
        </p:nvGrpSpPr>
        <p:grpSpPr>
          <a:xfrm>
            <a:off x="525780" y="5953125"/>
            <a:ext cx="8324660" cy="293370"/>
            <a:chOff x="525780" y="5953125"/>
            <a:chExt cx="8324660" cy="293370"/>
          </a:xfrm>
        </p:grpSpPr>
        <p:sp>
          <p:nvSpPr>
            <p:cNvPr id="18" name="TextBox 18"/>
            <p:cNvSpPr txBox="1"/>
            <p:nvPr/>
          </p:nvSpPr>
          <p:spPr>
            <a:xfrm>
              <a:off x="525780" y="5953125"/>
              <a:ext cx="8324660" cy="293370"/>
            </a:xfrm>
            <a:prstGeom prst="rect">
              <a:avLst/>
            </a:prstGeom>
            <a:noFill/>
            <a:ln>
              <a:noFill/>
            </a:ln>
          </p:spPr>
          <p:txBody>
            <a:bodyPr wrap="none" lIns="0" tIns="0" rIns="0" bIns="0" anchor="t" anchorCtr="0">
              <a:spAutoFit/>
            </a:bodyPr>
            <a:lstStyle/>
            <a:p>
              <a:pPr algn="l"/>
              <a:r>
                <a:rPr lang="zh-CN" sz="1500" dirty="0">
                  <a:solidFill>
                    <a:schemeClr val="accent6"/>
                  </a:solidFill>
                  <a:latin typeface="+mn-lt"/>
                  <a:ea typeface="+mn-ea"/>
                  <a:cs typeface="+mn-cs"/>
                </a:rPr>
                <a:t>计量不同，不与单片段吸附能直接作每离子比较；吸附模型距离与干态 c 轴参数也不能等同。</a:t>
              </a:r>
            </a:p>
          </p:txBody>
        </p:sp>
      </p:grpSp>
      <p:grpSp>
        <p:nvGrpSpPr>
          <p:cNvPr id="23" name="Group 23"/>
          <p:cNvGrpSpPr/>
          <p:nvPr/>
        </p:nvGrpSpPr>
        <p:grpSpPr>
          <a:xfrm>
            <a:off x="527304" y="6305550"/>
            <a:ext cx="11137392" cy="371856"/>
            <a:chOff x="527304" y="6305550"/>
            <a:chExt cx="11137392" cy="371856"/>
          </a:xfrm>
        </p:grpSpPr>
        <p:sp>
          <p:nvSpPr>
            <p:cNvPr id="20" name="Line 20"/>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rgbClr val="CEDBE1"/>
              </a:solidFill>
            </a:ln>
          </p:spPr>
        </p:sp>
        <p:sp>
          <p:nvSpPr>
            <p:cNvPr id="21" name="TextBox 21"/>
            <p:cNvSpPr txBox="1"/>
            <p:nvPr/>
          </p:nvSpPr>
          <p:spPr>
            <a:xfrm>
              <a:off x="527304" y="6442710"/>
              <a:ext cx="4679899"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来源：§2.3、Figure 8、Table 1 · 此机制为作者提出的理论解释</a:t>
              </a:r>
            </a:p>
          </p:txBody>
        </p:sp>
        <p:sp>
          <p:nvSpPr>
            <p:cNvPr id="22" name="TextBox 22"/>
            <p:cNvSpPr txBox="1"/>
            <p:nvPr/>
          </p:nvSpPr>
          <p:spPr>
            <a:xfrm>
              <a:off x="11111332" y="6442710"/>
              <a:ext cx="55336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11 / 12</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18922" y="361950"/>
            <a:ext cx="7380975" cy="945071"/>
            <a:chOff x="518922" y="361950"/>
            <a:chExt cx="7380975" cy="945071"/>
          </a:xfrm>
        </p:grpSpPr>
        <p:sp>
          <p:nvSpPr>
            <p:cNvPr id="2" name="TextBox 2"/>
            <p:cNvSpPr txBox="1"/>
            <p:nvPr/>
          </p:nvSpPr>
          <p:spPr>
            <a:xfrm>
              <a:off x="525780" y="361950"/>
              <a:ext cx="1479232"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11 / 总结与评价</a:t>
              </a:r>
            </a:p>
          </p:txBody>
        </p:sp>
        <p:sp>
          <p:nvSpPr>
            <p:cNvPr id="3" name="TextBox 3"/>
            <p:cNvSpPr txBox="1"/>
            <p:nvPr/>
          </p:nvSpPr>
          <p:spPr>
            <a:xfrm>
              <a:off x="518922" y="749618"/>
              <a:ext cx="7380975" cy="557403"/>
            </a:xfrm>
            <a:prstGeom prst="rect">
              <a:avLst/>
            </a:prstGeom>
            <a:noFill/>
            <a:ln>
              <a:noFill/>
            </a:ln>
          </p:spPr>
          <p:txBody>
            <a:bodyPr wrap="none" lIns="0" tIns="0" rIns="0" bIns="0" anchor="t" anchorCtr="0">
              <a:spAutoFit/>
            </a:bodyPr>
            <a:lstStyle/>
            <a:p>
              <a:pPr algn="l"/>
              <a:r>
                <a:rPr lang="zh-CN" sz="2850" b="1" dirty="0">
                  <a:solidFill>
                    <a:srgbClr val="FFFFFF"/>
                  </a:solidFill>
                  <a:latin typeface="+mn-lt"/>
                  <a:ea typeface="+mn-ea"/>
                  <a:cs typeface="+mn-cs"/>
                </a:rPr>
                <a:t>选择性来自“配位化学 × 框架空间”的协同</a:t>
              </a:r>
            </a:p>
          </p:txBody>
        </p:sp>
      </p:grpSp>
      <p:grpSp>
        <p:nvGrpSpPr>
          <p:cNvPr id="11" name="Group 11"/>
          <p:cNvGrpSpPr/>
          <p:nvPr/>
        </p:nvGrpSpPr>
        <p:grpSpPr>
          <a:xfrm>
            <a:off x="521970" y="1833562"/>
            <a:ext cx="4221480" cy="3108008"/>
            <a:chOff x="521970" y="1833562"/>
            <a:chExt cx="4221480" cy="3108008"/>
          </a:xfrm>
        </p:grpSpPr>
        <p:sp>
          <p:nvSpPr>
            <p:cNvPr id="5" name="TextBox 5"/>
            <p:cNvSpPr txBox="1"/>
            <p:nvPr/>
          </p:nvSpPr>
          <p:spPr>
            <a:xfrm>
              <a:off x="521970" y="1833562"/>
              <a:ext cx="3521297" cy="440055"/>
            </a:xfrm>
            <a:prstGeom prst="rect">
              <a:avLst/>
            </a:prstGeom>
            <a:noFill/>
            <a:ln>
              <a:noFill/>
            </a:ln>
          </p:spPr>
          <p:txBody>
            <a:bodyPr wrap="none" lIns="0" tIns="0" rIns="0" bIns="0" anchor="t" anchorCtr="0">
              <a:spAutoFit/>
            </a:bodyPr>
            <a:lstStyle/>
            <a:p>
              <a:pPr algn="l"/>
              <a:r>
                <a:rPr lang="zh-CN" sz="2250" b="1" dirty="0">
                  <a:solidFill>
                    <a:srgbClr val="FFFFFF"/>
                  </a:solidFill>
                  <a:latin typeface="+mn-lt"/>
                  <a:ea typeface="+mn-ea"/>
                  <a:cs typeface="+mn-cs"/>
                </a:rPr>
                <a:t>这篇文献带来的设计启示</a:t>
              </a:r>
            </a:p>
          </p:txBody>
        </p:sp>
        <p:sp>
          <p:nvSpPr>
            <p:cNvPr id="6" name="TextBox 6"/>
            <p:cNvSpPr txBox="1"/>
            <p:nvPr/>
          </p:nvSpPr>
          <p:spPr>
            <a:xfrm>
              <a:off x="522732" y="2516505"/>
              <a:ext cx="1208684" cy="410718"/>
            </a:xfrm>
            <a:prstGeom prst="rect">
              <a:avLst/>
            </a:prstGeom>
            <a:noFill/>
            <a:ln>
              <a:noFill/>
            </a:ln>
          </p:spPr>
          <p:txBody>
            <a:bodyPr wrap="none" lIns="0" tIns="0" rIns="0" bIns="0" anchor="t" anchorCtr="0">
              <a:spAutoFit/>
            </a:bodyPr>
            <a:lstStyle/>
            <a:p>
              <a:pPr algn="l"/>
              <a:r>
                <a:rPr lang="zh-CN" sz="2100" b="1" dirty="0">
                  <a:solidFill>
                    <a:srgbClr val="FFFFFF"/>
                  </a:solidFill>
                  <a:latin typeface="+mn-lt"/>
                  <a:ea typeface="+mn-ea"/>
                  <a:cs typeface="+mn-cs"/>
                </a:rPr>
                <a:t>刚柔调控</a:t>
              </a:r>
            </a:p>
          </p:txBody>
        </p:sp>
        <p:sp>
          <p:nvSpPr>
            <p:cNvPr id="7" name="TextBox 7"/>
            <p:cNvSpPr txBox="1"/>
            <p:nvPr/>
          </p:nvSpPr>
          <p:spPr>
            <a:xfrm>
              <a:off x="523494" y="2951798"/>
              <a:ext cx="4027780" cy="381381"/>
            </a:xfrm>
            <a:prstGeom prst="rect">
              <a:avLst/>
            </a:prstGeom>
            <a:noFill/>
            <a:ln>
              <a:noFill/>
            </a:ln>
          </p:spPr>
          <p:txBody>
            <a:bodyPr wrap="none" lIns="0" tIns="0" rIns="0" bIns="0" anchor="t" anchorCtr="0">
              <a:spAutoFit/>
            </a:bodyPr>
            <a:lstStyle/>
            <a:p>
              <a:pPr algn="l"/>
              <a:r>
                <a:rPr lang="zh-CN" sz="1950" dirty="0">
                  <a:solidFill>
                    <a:srgbClr val="FFFFFF"/>
                  </a:solidFill>
                  <a:latin typeface="+mn-lt"/>
                  <a:ea typeface="+mn-ea"/>
                  <a:cs typeface="+mn-cs"/>
                </a:rPr>
                <a:t>让识别位点进入有序 COF 骨架。</a:t>
              </a:r>
            </a:p>
          </p:txBody>
        </p:sp>
        <p:sp>
          <p:nvSpPr>
            <p:cNvPr id="8" name="TextBox 8"/>
            <p:cNvSpPr txBox="1"/>
            <p:nvPr/>
          </p:nvSpPr>
          <p:spPr>
            <a:xfrm>
              <a:off x="522732" y="3640455"/>
              <a:ext cx="2737395" cy="410718"/>
            </a:xfrm>
            <a:prstGeom prst="rect">
              <a:avLst/>
            </a:prstGeom>
            <a:noFill/>
            <a:ln>
              <a:noFill/>
            </a:ln>
          </p:spPr>
          <p:txBody>
            <a:bodyPr wrap="none" lIns="0" tIns="0" rIns="0" bIns="0" anchor="t" anchorCtr="0">
              <a:spAutoFit/>
            </a:bodyPr>
            <a:lstStyle/>
            <a:p>
              <a:pPr algn="l"/>
              <a:r>
                <a:rPr lang="zh-CN" sz="2100" b="1" dirty="0">
                  <a:solidFill>
                    <a:srgbClr val="FFFFFF"/>
                  </a:solidFill>
                  <a:latin typeface="+mn-lt"/>
                  <a:ea typeface="+mn-ea"/>
                  <a:cs typeface="+mn-cs"/>
                </a:rPr>
                <a:t>软硬协同 + 层间组织</a:t>
              </a:r>
            </a:p>
          </p:txBody>
        </p:sp>
        <p:sp>
          <p:nvSpPr>
            <p:cNvPr id="9" name="TextBox 9"/>
            <p:cNvSpPr txBox="1"/>
            <p:nvPr/>
          </p:nvSpPr>
          <p:spPr>
            <a:xfrm>
              <a:off x="523494" y="4075748"/>
              <a:ext cx="4219956" cy="381381"/>
            </a:xfrm>
            <a:prstGeom prst="rect">
              <a:avLst/>
            </a:prstGeom>
            <a:noFill/>
            <a:ln>
              <a:noFill/>
            </a:ln>
          </p:spPr>
          <p:txBody>
            <a:bodyPr wrap="none" lIns="0" tIns="0" rIns="0" bIns="0" anchor="t" anchorCtr="0">
              <a:spAutoFit/>
            </a:bodyPr>
            <a:lstStyle/>
            <a:p>
              <a:pPr algn="l"/>
              <a:r>
                <a:rPr lang="zh-CN" sz="1950" dirty="0">
                  <a:solidFill>
                    <a:srgbClr val="FFFFFF"/>
                  </a:solidFill>
                  <a:latin typeface="+mn-lt"/>
                  <a:ea typeface="+mn-ea"/>
                  <a:cs typeface="+mn-cs"/>
                </a:rPr>
                <a:t>把局部配位与更大尺度的空间耦合。</a:t>
              </a:r>
            </a:p>
          </p:txBody>
        </p:sp>
        <p:sp>
          <p:nvSpPr>
            <p:cNvPr id="10" name="TextBox 10"/>
            <p:cNvSpPr txBox="1"/>
            <p:nvPr/>
          </p:nvSpPr>
          <p:spPr>
            <a:xfrm>
              <a:off x="525780" y="4648200"/>
              <a:ext cx="3980021"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Np(V) 选择性最突出，AAI 提供可能解释。</a:t>
              </a:r>
            </a:p>
          </p:txBody>
        </p:sp>
      </p:grpSp>
      <p:grpSp>
        <p:nvGrpSpPr>
          <p:cNvPr id="18" name="Group 18"/>
          <p:cNvGrpSpPr/>
          <p:nvPr/>
        </p:nvGrpSpPr>
        <p:grpSpPr>
          <a:xfrm>
            <a:off x="6827520" y="1833562"/>
            <a:ext cx="3932225" cy="3108008"/>
            <a:chOff x="6827520" y="1833562"/>
            <a:chExt cx="3932225" cy="3108008"/>
          </a:xfrm>
        </p:grpSpPr>
        <p:sp>
          <p:nvSpPr>
            <p:cNvPr id="12" name="TextBox 12"/>
            <p:cNvSpPr txBox="1"/>
            <p:nvPr/>
          </p:nvSpPr>
          <p:spPr>
            <a:xfrm>
              <a:off x="6827520" y="1833562"/>
              <a:ext cx="2249138" cy="440055"/>
            </a:xfrm>
            <a:prstGeom prst="rect">
              <a:avLst/>
            </a:prstGeom>
            <a:noFill/>
            <a:ln>
              <a:noFill/>
            </a:ln>
          </p:spPr>
          <p:txBody>
            <a:bodyPr wrap="none" lIns="0" tIns="0" rIns="0" bIns="0" anchor="t" anchorCtr="0">
              <a:spAutoFit/>
            </a:bodyPr>
            <a:lstStyle/>
            <a:p>
              <a:pPr algn="l"/>
              <a:r>
                <a:rPr lang="zh-CN" sz="2250" b="1" dirty="0">
                  <a:solidFill>
                    <a:srgbClr val="FFFFFF"/>
                  </a:solidFill>
                  <a:latin typeface="+mn-lt"/>
                  <a:ea typeface="+mn-ea"/>
                  <a:cs typeface="+mn-cs"/>
                </a:rPr>
                <a:t>还需回答的问题</a:t>
              </a:r>
            </a:p>
          </p:txBody>
        </p:sp>
        <p:sp>
          <p:nvSpPr>
            <p:cNvPr id="13" name="TextBox 13"/>
            <p:cNvSpPr txBox="1"/>
            <p:nvPr/>
          </p:nvSpPr>
          <p:spPr>
            <a:xfrm>
              <a:off x="6829044" y="2532698"/>
              <a:ext cx="2611222" cy="381381"/>
            </a:xfrm>
            <a:prstGeom prst="rect">
              <a:avLst/>
            </a:prstGeom>
            <a:noFill/>
            <a:ln>
              <a:noFill/>
            </a:ln>
          </p:spPr>
          <p:txBody>
            <a:bodyPr wrap="none" lIns="0" tIns="0" rIns="0" bIns="0" anchor="t" anchorCtr="0">
              <a:spAutoFit/>
            </a:bodyPr>
            <a:lstStyle/>
            <a:p>
              <a:pPr algn="l"/>
              <a:r>
                <a:rPr lang="zh-CN" sz="1950" dirty="0">
                  <a:solidFill>
                    <a:srgbClr val="FFFFFF"/>
                  </a:solidFill>
                  <a:latin typeface="+mn-lt"/>
                  <a:ea typeface="+mn-ea"/>
                  <a:cs typeface="+mn-cs"/>
                </a:rPr>
                <a:t>Am 高去除依赖低酸。</a:t>
              </a:r>
            </a:p>
          </p:txBody>
        </p:sp>
        <p:sp>
          <p:nvSpPr>
            <p:cNvPr id="14" name="TextBox 14"/>
            <p:cNvSpPr txBox="1"/>
            <p:nvPr/>
          </p:nvSpPr>
          <p:spPr>
            <a:xfrm>
              <a:off x="6829044" y="3104198"/>
              <a:ext cx="3930701" cy="381381"/>
            </a:xfrm>
            <a:prstGeom prst="rect">
              <a:avLst/>
            </a:prstGeom>
            <a:noFill/>
            <a:ln>
              <a:noFill/>
            </a:ln>
          </p:spPr>
          <p:txBody>
            <a:bodyPr wrap="none" lIns="0" tIns="0" rIns="0" bIns="0" anchor="t" anchorCtr="0">
              <a:spAutoFit/>
            </a:bodyPr>
            <a:lstStyle/>
            <a:p>
              <a:pPr algn="l"/>
              <a:r>
                <a:rPr lang="zh-CN" sz="1950" dirty="0">
                  <a:solidFill>
                    <a:srgbClr val="FFFFFF"/>
                  </a:solidFill>
                  <a:latin typeface="+mn-lt"/>
                  <a:ea typeface="+mn-ea"/>
                  <a:cs typeface="+mn-cs"/>
                </a:rPr>
                <a:t>U 替代谱学与 DFT 属间接证据。</a:t>
              </a:r>
            </a:p>
          </p:txBody>
        </p:sp>
        <p:sp>
          <p:nvSpPr>
            <p:cNvPr id="15" name="TextBox 15"/>
            <p:cNvSpPr txBox="1"/>
            <p:nvPr/>
          </p:nvSpPr>
          <p:spPr>
            <a:xfrm>
              <a:off x="6829044" y="3675698"/>
              <a:ext cx="3417570" cy="381381"/>
            </a:xfrm>
            <a:prstGeom prst="rect">
              <a:avLst/>
            </a:prstGeom>
            <a:noFill/>
            <a:ln>
              <a:noFill/>
            </a:ln>
          </p:spPr>
          <p:txBody>
            <a:bodyPr wrap="none" lIns="0" tIns="0" rIns="0" bIns="0" anchor="t" anchorCtr="0">
              <a:spAutoFit/>
            </a:bodyPr>
            <a:lstStyle/>
            <a:p>
              <a:pPr algn="l"/>
              <a:r>
                <a:rPr lang="zh-CN" sz="1950" dirty="0">
                  <a:solidFill>
                    <a:srgbClr val="FFFFFF"/>
                  </a:solidFill>
                  <a:latin typeface="+mn-lt"/>
                  <a:ea typeface="+mn-ea"/>
                  <a:cs typeface="+mn-cs"/>
                </a:rPr>
                <a:t>本 PDF 未完整验证的场景：</a:t>
              </a:r>
            </a:p>
          </p:txBody>
        </p:sp>
        <p:sp>
          <p:nvSpPr>
            <p:cNvPr id="16" name="TextBox 16"/>
            <p:cNvSpPr txBox="1"/>
            <p:nvPr/>
          </p:nvSpPr>
          <p:spPr>
            <a:xfrm>
              <a:off x="6829806" y="4091940"/>
              <a:ext cx="3241091"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真实料液 · 动态柱 · 长期循环</a:t>
              </a:r>
            </a:p>
          </p:txBody>
        </p:sp>
        <p:sp>
          <p:nvSpPr>
            <p:cNvPr id="17" name="TextBox 17"/>
            <p:cNvSpPr txBox="1"/>
            <p:nvPr/>
          </p:nvSpPr>
          <p:spPr>
            <a:xfrm>
              <a:off x="6831330" y="4648200"/>
              <a:ext cx="385191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后续：竞争体系、载量与再生、原位结构。</a:t>
              </a:r>
            </a:p>
          </p:txBody>
        </p:sp>
      </p:grpSp>
      <p:grpSp>
        <p:nvGrpSpPr>
          <p:cNvPr id="22" name="Group 22"/>
          <p:cNvGrpSpPr/>
          <p:nvPr/>
        </p:nvGrpSpPr>
        <p:grpSpPr>
          <a:xfrm>
            <a:off x="522732" y="5248275"/>
            <a:ext cx="11135868" cy="857631"/>
            <a:chOff x="522732" y="5248275"/>
            <a:chExt cx="11135868" cy="857631"/>
          </a:xfrm>
        </p:grpSpPr>
        <p:sp>
          <p:nvSpPr>
            <p:cNvPr id="19" name="Line 19"/>
            <p:cNvSpPr/>
            <p:nvPr/>
          </p:nvSpPr>
          <p:spPr>
            <a:xfrm>
              <a:off x="533400" y="5248275"/>
              <a:ext cx="11125200" cy="9525"/>
            </a:xfrm>
            <a:custGeom>
              <a:avLst/>
              <a:gdLst/>
              <a:ahLst/>
              <a:cxnLst/>
              <a:rect l="l" t="t" r="r" b="b"/>
              <a:pathLst>
                <a:path w="11125200" h="9525">
                  <a:moveTo>
                    <a:pt x="0" y="0"/>
                  </a:moveTo>
                  <a:lnTo>
                    <a:pt x="11125200" y="0"/>
                  </a:lnTo>
                </a:path>
              </a:pathLst>
            </a:custGeom>
            <a:noFill/>
            <a:ln w="9525">
              <a:solidFill>
                <a:srgbClr val="647884"/>
              </a:solidFill>
            </a:ln>
          </p:spPr>
        </p:sp>
        <p:sp>
          <p:nvSpPr>
            <p:cNvPr id="20" name="TextBox 20"/>
            <p:cNvSpPr txBox="1"/>
            <p:nvPr/>
          </p:nvSpPr>
          <p:spPr>
            <a:xfrm>
              <a:off x="522732" y="5478780"/>
              <a:ext cx="8171195" cy="410718"/>
            </a:xfrm>
            <a:prstGeom prst="rect">
              <a:avLst/>
            </a:prstGeom>
            <a:noFill/>
            <a:ln>
              <a:noFill/>
            </a:ln>
          </p:spPr>
          <p:txBody>
            <a:bodyPr wrap="none" lIns="0" tIns="0" rIns="0" bIns="0" anchor="t" anchorCtr="0">
              <a:spAutoFit/>
            </a:bodyPr>
            <a:lstStyle/>
            <a:p>
              <a:pPr algn="l"/>
              <a:r>
                <a:rPr lang="zh-CN" sz="2100" b="1" dirty="0">
                  <a:solidFill>
                    <a:srgbClr val="FFFFFF"/>
                  </a:solidFill>
                  <a:latin typeface="+mn-lt"/>
                  <a:ea typeface="+mn-ea"/>
                  <a:cs typeface="+mn-cs"/>
                </a:rPr>
                <a:t>讨论：如何把 Np 的选择性优势，推广到更苛刻的料液条件？</a:t>
              </a:r>
            </a:p>
          </p:txBody>
        </p:sp>
        <p:sp>
          <p:nvSpPr>
            <p:cNvPr id="21" name="TextBox 21"/>
            <p:cNvSpPr txBox="1"/>
            <p:nvPr/>
          </p:nvSpPr>
          <p:spPr>
            <a:xfrm>
              <a:off x="527304" y="5871210"/>
              <a:ext cx="3404616" cy="234696"/>
            </a:xfrm>
            <a:prstGeom prst="rect">
              <a:avLst/>
            </a:prstGeom>
            <a:noFill/>
            <a:ln>
              <a:noFill/>
            </a:ln>
          </p:spPr>
          <p:txBody>
            <a:bodyPr wrap="none" lIns="0" tIns="0" rIns="0" bIns="0" anchor="t" anchorCtr="0">
              <a:spAutoFit/>
            </a:bodyPr>
            <a:lstStyle/>
            <a:p>
              <a:pPr algn="l"/>
              <a:r>
                <a:rPr lang="zh-CN" sz="1200" dirty="0">
                  <a:solidFill>
                    <a:srgbClr val="FFFFFF"/>
                  </a:solidFill>
                  <a:latin typeface="+mn-lt"/>
                  <a:ea typeface="+mn-ea"/>
                  <a:cs typeface="+mn-cs"/>
                </a:rPr>
                <a:t>局限与后续建议为汇报者依据所附正文的评价。</a:t>
              </a:r>
            </a:p>
          </p:txBody>
        </p:sp>
      </p:grpSp>
      <p:grpSp>
        <p:nvGrpSpPr>
          <p:cNvPr id="26" name="Group 26"/>
          <p:cNvGrpSpPr/>
          <p:nvPr/>
        </p:nvGrpSpPr>
        <p:grpSpPr>
          <a:xfrm>
            <a:off x="527304" y="6305550"/>
            <a:ext cx="11137392" cy="371856"/>
            <a:chOff x="527304" y="6305550"/>
            <a:chExt cx="11137392" cy="371856"/>
          </a:xfrm>
        </p:grpSpPr>
        <p:sp>
          <p:nvSpPr>
            <p:cNvPr id="23" name="Line 23"/>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rgbClr val="647884"/>
              </a:solidFill>
            </a:ln>
          </p:spPr>
        </p:sp>
        <p:sp>
          <p:nvSpPr>
            <p:cNvPr id="24" name="TextBox 24"/>
            <p:cNvSpPr txBox="1"/>
            <p:nvPr/>
          </p:nvSpPr>
          <p:spPr>
            <a:xfrm>
              <a:off x="527304" y="6442710"/>
              <a:ext cx="6593738" cy="234696"/>
            </a:xfrm>
            <a:prstGeom prst="rect">
              <a:avLst/>
            </a:prstGeom>
            <a:noFill/>
            <a:ln>
              <a:noFill/>
            </a:ln>
          </p:spPr>
          <p:txBody>
            <a:bodyPr wrap="none" lIns="0" tIns="0" rIns="0" bIns="0" anchor="t" anchorCtr="0">
              <a:spAutoFit/>
            </a:bodyPr>
            <a:lstStyle/>
            <a:p>
              <a:pPr algn="l"/>
              <a:r>
                <a:rPr lang="zh-CN" sz="1200" dirty="0">
                  <a:solidFill>
                    <a:srgbClr val="FFFFFF"/>
                  </a:solidFill>
                  <a:latin typeface="+mn-lt"/>
                  <a:ea typeface="+mn-ea"/>
                  <a:cs typeface="+mn-cs"/>
                </a:rPr>
                <a:t>Cao et al. · Advanced Materials 2025, 37, 2414659 · DOI: 10.1002/adma.202414659</a:t>
              </a:r>
            </a:p>
          </p:txBody>
        </p:sp>
        <p:sp>
          <p:nvSpPr>
            <p:cNvPr id="25" name="TextBox 25"/>
            <p:cNvSpPr txBox="1"/>
            <p:nvPr/>
          </p:nvSpPr>
          <p:spPr>
            <a:xfrm>
              <a:off x="11111332" y="6442710"/>
              <a:ext cx="553364" cy="234696"/>
            </a:xfrm>
            <a:prstGeom prst="rect">
              <a:avLst/>
            </a:prstGeom>
            <a:noFill/>
            <a:ln>
              <a:noFill/>
            </a:ln>
          </p:spPr>
          <p:txBody>
            <a:bodyPr wrap="none" lIns="0" tIns="0" rIns="0" bIns="0" anchor="t" anchorCtr="0">
              <a:spAutoFit/>
            </a:bodyPr>
            <a:lstStyle/>
            <a:p>
              <a:pPr algn="r"/>
              <a:r>
                <a:rPr lang="zh-CN" sz="1200" dirty="0">
                  <a:solidFill>
                    <a:srgbClr val="FFFFFF"/>
                  </a:solidFill>
                  <a:latin typeface="+mn-lt"/>
                  <a:ea typeface="+mn-ea"/>
                  <a:cs typeface="+mn-cs"/>
                </a:rPr>
                <a:t>12 / 12</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actinide_literature">
  <a:themeElements>
    <a:clrScheme name="actinide_literature">
      <a:dk1>
        <a:srgbClr val="263C4B"/>
      </a:dk1>
      <a:lt1>
        <a:srgbClr val="FFFFFF"/>
      </a:lt1>
      <a:dk2>
        <a:srgbClr val="1F497D"/>
      </a:dk2>
      <a:lt2>
        <a:srgbClr val="FFFFFF"/>
      </a:lt2>
      <a:accent1>
        <a:srgbClr val="102C43"/>
      </a:accent1>
      <a:accent2>
        <a:srgbClr val="087F8C"/>
      </a:accent2>
      <a:accent3>
        <a:srgbClr val="B96D3C"/>
      </a:accent3>
      <a:accent4>
        <a:srgbClr val="102C43"/>
      </a:accent4>
      <a:accent5>
        <a:srgbClr val="EFF5F7"/>
      </a:accent5>
      <a:accent6>
        <a:srgbClr val="647884"/>
      </a:accent6>
      <a:hlink>
        <a:srgbClr val="087F8C"/>
      </a:hlink>
      <a:folHlink>
        <a:srgbClr val="B96D3C"/>
      </a:folHlink>
    </a:clrScheme>
    <a:fontScheme name="actinide_literature">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ctinide_literatur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actinide_literature">
  <a:themeElements>
    <a:clrScheme name="actinide_literature">
      <a:dk1>
        <a:srgbClr val="263C4B"/>
      </a:dk1>
      <a:lt1>
        <a:srgbClr val="FFFFFF"/>
      </a:lt1>
      <a:dk2>
        <a:srgbClr val="1F497D"/>
      </a:dk2>
      <a:lt2>
        <a:srgbClr val="FFFFFF"/>
      </a:lt2>
      <a:accent1>
        <a:srgbClr val="102C43"/>
      </a:accent1>
      <a:accent2>
        <a:srgbClr val="087F8C"/>
      </a:accent2>
      <a:accent3>
        <a:srgbClr val="B96D3C"/>
      </a:accent3>
      <a:accent4>
        <a:srgbClr val="102C43"/>
      </a:accent4>
      <a:accent5>
        <a:srgbClr val="EFF5F7"/>
      </a:accent5>
      <a:accent6>
        <a:srgbClr val="647884"/>
      </a:accent6>
      <a:hlink>
        <a:srgbClr val="087F8C"/>
      </a:hlink>
      <a:folHlink>
        <a:srgbClr val="B96D3C"/>
      </a:folHlink>
    </a:clrScheme>
    <a:fontScheme name="actinide_literature">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ctinide_literatur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2026-10-20T07:59:35Z</dcterms:created>
  <dcterms:modified xsi:type="dcterms:W3CDTF">2026-10-20T07:59:35Z</dcterms:modified>
  <cp:category/>
  <cp:contentStatus/>
</cp:coreProperties>
</file>